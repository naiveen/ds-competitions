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3" r:id="rId5"/>
    <p:sldId id="272" r:id="rId6"/>
    <p:sldId id="260" r:id="rId7"/>
    <p:sldId id="261" r:id="rId8"/>
    <p:sldId id="274" r:id="rId9"/>
    <p:sldId id="275" r:id="rId10"/>
    <p:sldId id="277" r:id="rId11"/>
    <p:sldId id="276" r:id="rId12"/>
    <p:sldId id="279" r:id="rId13"/>
    <p:sldId id="280" r:id="rId14"/>
    <p:sldId id="281" r:id="rId15"/>
    <p:sldId id="282" r:id="rId16"/>
    <p:sldId id="264" r:id="rId17"/>
    <p:sldId id="267" r:id="rId18"/>
    <p:sldId id="268" r:id="rId19"/>
    <p:sldId id="285" r:id="rId20"/>
    <p:sldId id="284" r:id="rId21"/>
    <p:sldId id="286" r:id="rId22"/>
    <p:sldId id="270" r:id="rId23"/>
    <p:sldId id="258" r:id="rId24"/>
    <p:sldId id="2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B14A5-6F7D-42AE-93E3-510511B525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C99A00-6D96-4CF1-A17E-4261159B88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E40EEB-FD08-44FE-AFEB-FAA5764CB1CF}"/>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5" name="Footer Placeholder 4">
            <a:extLst>
              <a:ext uri="{FF2B5EF4-FFF2-40B4-BE49-F238E27FC236}">
                <a16:creationId xmlns:a16="http://schemas.microsoft.com/office/drawing/2014/main" id="{90445FEC-A562-47DC-98B7-B533616D1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70F3A-B0A0-43CA-B627-D7DA32FF8D44}"/>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248903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3C39-6CF8-445F-997C-A1794D405D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90F79E-DDC3-49FC-B35D-A47ABC0FA0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240948-D8FE-4DD1-AB12-C3758D50C2C7}"/>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5" name="Footer Placeholder 4">
            <a:extLst>
              <a:ext uri="{FF2B5EF4-FFF2-40B4-BE49-F238E27FC236}">
                <a16:creationId xmlns:a16="http://schemas.microsoft.com/office/drawing/2014/main" id="{DABA9E5D-88F7-4BFC-9802-88C29ADF5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CEC8F-2B84-40FD-8BD9-F5247CD14038}"/>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3027127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18C4-05ED-49B7-B7E1-00D1E5B44E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22242A-0E6D-4364-A174-431299319E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C73E37-100C-4ABF-AD08-770D95742649}"/>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5" name="Footer Placeholder 4">
            <a:extLst>
              <a:ext uri="{FF2B5EF4-FFF2-40B4-BE49-F238E27FC236}">
                <a16:creationId xmlns:a16="http://schemas.microsoft.com/office/drawing/2014/main" id="{DBCBD9A8-FA1D-4BD7-9DAB-CBA5267D3D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B6C24-0EED-4384-8ED9-32D3E7674E80}"/>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254897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38F28-660B-4528-A161-E27677DBA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598A84-D396-4972-B9A3-115715E84E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85E93-C57B-4DEC-974C-48A7D8C318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FB1A96-4485-4D8E-A88B-B8ECAB641EA8}"/>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6" name="Footer Placeholder 5">
            <a:extLst>
              <a:ext uri="{FF2B5EF4-FFF2-40B4-BE49-F238E27FC236}">
                <a16:creationId xmlns:a16="http://schemas.microsoft.com/office/drawing/2014/main" id="{2F038D83-7889-46BB-AC30-EC449E9B7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3E4655-2584-41FD-9027-E7C7B4B979D6}"/>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1050443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ABDF0-A243-4FB8-9979-EFACD76761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CFD685-97DF-4CFF-89A2-EA388F7D56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FF4F48-51D3-437B-86CA-8117888D14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A0D175-DE44-459E-B651-2F5747B4F1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772E8-6738-44F7-990D-C4F7A9CA6E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47AEF5-457F-4A1C-9244-BF5EEC5FC72A}"/>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8" name="Footer Placeholder 7">
            <a:extLst>
              <a:ext uri="{FF2B5EF4-FFF2-40B4-BE49-F238E27FC236}">
                <a16:creationId xmlns:a16="http://schemas.microsoft.com/office/drawing/2014/main" id="{43070601-79C5-41E8-8A6B-F39DC33636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A5D7C6-19F3-4F43-8338-44009E26DD18}"/>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1295001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C47A8-130C-4A51-95BC-12A37D2A9C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7E50C3-F42A-4337-9061-AD71130EE326}"/>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4" name="Footer Placeholder 3">
            <a:extLst>
              <a:ext uri="{FF2B5EF4-FFF2-40B4-BE49-F238E27FC236}">
                <a16:creationId xmlns:a16="http://schemas.microsoft.com/office/drawing/2014/main" id="{4D0B3116-F772-409C-98CA-523C93AA6B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DBBE8F-D54E-4371-B9F9-92EB6D2AE05F}"/>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3203378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B0A9EA-C338-4F9E-96E3-5CE7E7E3AD08}"/>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3" name="Footer Placeholder 2">
            <a:extLst>
              <a:ext uri="{FF2B5EF4-FFF2-40B4-BE49-F238E27FC236}">
                <a16:creationId xmlns:a16="http://schemas.microsoft.com/office/drawing/2014/main" id="{1E4CDED3-13AC-4E26-989E-0A7484F7A1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FE0777-1B75-4D8E-A4B8-79B7C0EA815A}"/>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3342194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1A1CB-03B9-4FA7-9736-73F387D27F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E82DCD-0CD5-44E8-ADEB-206238CCE7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E3C577-13DD-48BE-816B-C7042D6C1A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519C6-253E-4504-A009-054170D6BDF6}"/>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6" name="Footer Placeholder 5">
            <a:extLst>
              <a:ext uri="{FF2B5EF4-FFF2-40B4-BE49-F238E27FC236}">
                <a16:creationId xmlns:a16="http://schemas.microsoft.com/office/drawing/2014/main" id="{42A96BF8-2F6F-42D6-A30C-DD1B0EBB7A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3D11EE-5FC8-4CA2-81B5-78EED2EEA6CC}"/>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517126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FB25C-A7A9-4F84-8FBB-4BBB898D7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AC69A6-21B0-444F-B7D5-1804ECCD41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4C39F2-471D-4FAD-B1D1-3D5933AE1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0AA96-7FFB-4B0A-8888-0A35D370936F}"/>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6" name="Footer Placeholder 5">
            <a:extLst>
              <a:ext uri="{FF2B5EF4-FFF2-40B4-BE49-F238E27FC236}">
                <a16:creationId xmlns:a16="http://schemas.microsoft.com/office/drawing/2014/main" id="{827AB807-1877-4DA2-8393-74641F615C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F9D65E-5ACB-4AD6-8933-722FF4E53BE4}"/>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3858811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5F237-AD0A-45E6-9ADA-6C5E6EB13C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4CDA08-A534-4C7F-B191-ACF4AFE0AC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C44EB8-2F2F-4AAC-9D00-030AA9C7EDEB}"/>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5" name="Footer Placeholder 4">
            <a:extLst>
              <a:ext uri="{FF2B5EF4-FFF2-40B4-BE49-F238E27FC236}">
                <a16:creationId xmlns:a16="http://schemas.microsoft.com/office/drawing/2014/main" id="{8AE4DA66-6CA1-4BEA-B0DB-CD178E430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B958E-F36D-4849-BAA4-46BFE9AF6ED2}"/>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3768662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C5A9F0-F01B-41AC-B006-5C57C3FC69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04E63E-8661-477F-AFFF-CC4AAC289F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DF098-E696-45F9-BB15-2479A89F875E}"/>
              </a:ext>
            </a:extLst>
          </p:cNvPr>
          <p:cNvSpPr>
            <a:spLocks noGrp="1"/>
          </p:cNvSpPr>
          <p:nvPr>
            <p:ph type="dt" sz="half" idx="10"/>
          </p:nvPr>
        </p:nvSpPr>
        <p:spPr/>
        <p:txBody>
          <a:bodyPr/>
          <a:lstStyle/>
          <a:p>
            <a:fld id="{BBEA7F8F-8D25-4DF9-96CD-76CB67D60407}" type="datetimeFigureOut">
              <a:rPr lang="en-US" smtClean="0"/>
              <a:t>12/5/2020</a:t>
            </a:fld>
            <a:endParaRPr lang="en-US"/>
          </a:p>
        </p:txBody>
      </p:sp>
      <p:sp>
        <p:nvSpPr>
          <p:cNvPr id="5" name="Footer Placeholder 4">
            <a:extLst>
              <a:ext uri="{FF2B5EF4-FFF2-40B4-BE49-F238E27FC236}">
                <a16:creationId xmlns:a16="http://schemas.microsoft.com/office/drawing/2014/main" id="{BBF4F3C4-7FAA-48BE-AE33-99588489C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58DC7D-F6AC-4C9E-AF27-80E39196C996}"/>
              </a:ext>
            </a:extLst>
          </p:cNvPr>
          <p:cNvSpPr>
            <a:spLocks noGrp="1"/>
          </p:cNvSpPr>
          <p:nvPr>
            <p:ph type="sldNum" sz="quarter" idx="12"/>
          </p:nvPr>
        </p:nvSpPr>
        <p:spPr/>
        <p:txBody>
          <a:bodyPr/>
          <a:lstStyle/>
          <a:p>
            <a:fld id="{BA430B07-B2CD-4820-BDDA-E4788C1FBAE4}" type="slidenum">
              <a:rPr lang="en-US" smtClean="0"/>
              <a:t>‹#›</a:t>
            </a:fld>
            <a:endParaRPr lang="en-US"/>
          </a:p>
        </p:txBody>
      </p:sp>
    </p:spTree>
    <p:extLst>
      <p:ext uri="{BB962C8B-B14F-4D97-AF65-F5344CB8AC3E}">
        <p14:creationId xmlns:p14="http://schemas.microsoft.com/office/powerpoint/2010/main" val="1891983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176918-05FF-4BE1-92BD-D52EC00BCE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C88C84-6166-4149-AB06-3AA750FFA4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96BAFF-0CBD-4EA2-9DD4-BFD9F677D5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EA7F8F-8D25-4DF9-96CD-76CB67D60407}" type="datetimeFigureOut">
              <a:rPr lang="en-US" smtClean="0"/>
              <a:t>12/5/2020</a:t>
            </a:fld>
            <a:endParaRPr lang="en-US"/>
          </a:p>
        </p:txBody>
      </p:sp>
      <p:sp>
        <p:nvSpPr>
          <p:cNvPr id="5" name="Footer Placeholder 4">
            <a:extLst>
              <a:ext uri="{FF2B5EF4-FFF2-40B4-BE49-F238E27FC236}">
                <a16:creationId xmlns:a16="http://schemas.microsoft.com/office/drawing/2014/main" id="{D8804257-7D7D-4401-9D92-B70021FBC4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18ADEE-FF95-4D97-9F9F-3BCACAB10E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430B07-B2CD-4820-BDDA-E4788C1FBAE4}" type="slidenum">
              <a:rPr lang="en-US" smtClean="0"/>
              <a:t>‹#›</a:t>
            </a:fld>
            <a:endParaRPr lang="en-US"/>
          </a:p>
        </p:txBody>
      </p:sp>
    </p:spTree>
    <p:extLst>
      <p:ext uri="{BB962C8B-B14F-4D97-AF65-F5344CB8AC3E}">
        <p14:creationId xmlns:p14="http://schemas.microsoft.com/office/powerpoint/2010/main" val="2565917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lab.research.google.com/drive/1wvOHclU89j0fMPmCQLtKPw0tlIghatNx?usp=sharin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BFE1AD3-B2BC-4567-8B4A-DCB8F9080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70A28E-4FD8-4474-A206-E15B5EBB3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5801"/>
            <a:ext cx="12188952" cy="521767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FDE75AAD-F4A4-4ED2-9A2F-B2412F936C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35" t="20008" r="8214" b="52759"/>
          <a:stretch/>
        </p:blipFill>
        <p:spPr>
          <a:xfrm flipV="1">
            <a:off x="2" y="0"/>
            <a:ext cx="12191999" cy="2235323"/>
          </a:xfrm>
          <a:custGeom>
            <a:avLst/>
            <a:gdLst>
              <a:gd name="connsiteX0" fmla="*/ 0 w 12191999"/>
              <a:gd name="connsiteY0" fmla="*/ 2235323 h 2235323"/>
              <a:gd name="connsiteX1" fmla="*/ 12191999 w 12191999"/>
              <a:gd name="connsiteY1" fmla="*/ 2235323 h 2235323"/>
              <a:gd name="connsiteX2" fmla="*/ 12191999 w 12191999"/>
              <a:gd name="connsiteY2" fmla="*/ 0 h 2235323"/>
              <a:gd name="connsiteX3" fmla="*/ 0 w 12191999"/>
              <a:gd name="connsiteY3" fmla="*/ 0 h 2235323"/>
            </a:gdLst>
            <a:ahLst/>
            <a:cxnLst>
              <a:cxn ang="0">
                <a:pos x="connsiteX0" y="connsiteY0"/>
              </a:cxn>
              <a:cxn ang="0">
                <a:pos x="connsiteX1" y="connsiteY1"/>
              </a:cxn>
              <a:cxn ang="0">
                <a:pos x="connsiteX2" y="connsiteY2"/>
              </a:cxn>
              <a:cxn ang="0">
                <a:pos x="connsiteX3" y="connsiteY3"/>
              </a:cxn>
            </a:cxnLst>
            <a:rect l="l" t="t" r="r" b="b"/>
            <a:pathLst>
              <a:path w="12191999" h="2235323">
                <a:moveTo>
                  <a:pt x="0" y="2235323"/>
                </a:moveTo>
                <a:lnTo>
                  <a:pt x="12191999" y="2235323"/>
                </a:lnTo>
                <a:lnTo>
                  <a:pt x="12191999" y="0"/>
                </a:lnTo>
                <a:lnTo>
                  <a:pt x="0" y="0"/>
                </a:lnTo>
                <a:close/>
              </a:path>
            </a:pathLst>
          </a:custGeom>
        </p:spPr>
      </p:pic>
      <p:sp>
        <p:nvSpPr>
          <p:cNvPr id="2" name="Title 1">
            <a:extLst>
              <a:ext uri="{FF2B5EF4-FFF2-40B4-BE49-F238E27FC236}">
                <a16:creationId xmlns:a16="http://schemas.microsoft.com/office/drawing/2014/main" id="{ABB12EEB-AEEB-4B12-815E-5E146C4DAC1F}"/>
              </a:ext>
            </a:extLst>
          </p:cNvPr>
          <p:cNvSpPr>
            <a:spLocks noGrp="1"/>
          </p:cNvSpPr>
          <p:nvPr>
            <p:ph type="ctrTitle"/>
          </p:nvPr>
        </p:nvSpPr>
        <p:spPr>
          <a:xfrm>
            <a:off x="753925" y="1601735"/>
            <a:ext cx="10684151" cy="1991979"/>
          </a:xfrm>
        </p:spPr>
        <p:txBody>
          <a:bodyPr anchor="b">
            <a:normAutofit/>
          </a:bodyPr>
          <a:lstStyle/>
          <a:p>
            <a:r>
              <a:rPr lang="en-US" sz="6600" dirty="0">
                <a:solidFill>
                  <a:srgbClr val="FFFFFF"/>
                </a:solidFill>
              </a:rPr>
              <a:t>Amazon ML Hiring Challenge</a:t>
            </a:r>
          </a:p>
        </p:txBody>
      </p:sp>
      <p:pic>
        <p:nvPicPr>
          <p:cNvPr id="21" name="Picture 20">
            <a:extLst>
              <a:ext uri="{FF2B5EF4-FFF2-40B4-BE49-F238E27FC236}">
                <a16:creationId xmlns:a16="http://schemas.microsoft.com/office/drawing/2014/main" id="{DA20CE0B-92EC-45FD-8F68-38003D6D8C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35" t="-1" r="8214" b="80325"/>
          <a:stretch/>
        </p:blipFill>
        <p:spPr>
          <a:xfrm flipV="1">
            <a:off x="0" y="4586080"/>
            <a:ext cx="12191999" cy="1614974"/>
          </a:xfrm>
          <a:custGeom>
            <a:avLst/>
            <a:gdLst>
              <a:gd name="connsiteX0" fmla="*/ 0 w 12191999"/>
              <a:gd name="connsiteY0" fmla="*/ 1614974 h 1614974"/>
              <a:gd name="connsiteX1" fmla="*/ 12191999 w 12191999"/>
              <a:gd name="connsiteY1" fmla="*/ 1614974 h 1614974"/>
              <a:gd name="connsiteX2" fmla="*/ 12191999 w 12191999"/>
              <a:gd name="connsiteY2" fmla="*/ 0 h 1614974"/>
              <a:gd name="connsiteX3" fmla="*/ 0 w 12191999"/>
              <a:gd name="connsiteY3" fmla="*/ 0 h 1614974"/>
            </a:gdLst>
            <a:ahLst/>
            <a:cxnLst>
              <a:cxn ang="0">
                <a:pos x="connsiteX0" y="connsiteY0"/>
              </a:cxn>
              <a:cxn ang="0">
                <a:pos x="connsiteX1" y="connsiteY1"/>
              </a:cxn>
              <a:cxn ang="0">
                <a:pos x="connsiteX2" y="connsiteY2"/>
              </a:cxn>
              <a:cxn ang="0">
                <a:pos x="connsiteX3" y="connsiteY3"/>
              </a:cxn>
            </a:cxnLst>
            <a:rect l="l" t="t" r="r" b="b"/>
            <a:pathLst>
              <a:path w="12191999" h="1614974">
                <a:moveTo>
                  <a:pt x="0" y="1614974"/>
                </a:moveTo>
                <a:lnTo>
                  <a:pt x="12191999" y="1614974"/>
                </a:lnTo>
                <a:lnTo>
                  <a:pt x="12191999" y="0"/>
                </a:lnTo>
                <a:lnTo>
                  <a:pt x="0" y="0"/>
                </a:lnTo>
                <a:close/>
              </a:path>
            </a:pathLst>
          </a:custGeom>
        </p:spPr>
      </p:pic>
      <p:sp>
        <p:nvSpPr>
          <p:cNvPr id="3" name="Subtitle 2">
            <a:extLst>
              <a:ext uri="{FF2B5EF4-FFF2-40B4-BE49-F238E27FC236}">
                <a16:creationId xmlns:a16="http://schemas.microsoft.com/office/drawing/2014/main" id="{FBA5F9E1-5C9E-42A6-9748-33F6161DE6B8}"/>
              </a:ext>
            </a:extLst>
          </p:cNvPr>
          <p:cNvSpPr>
            <a:spLocks noGrp="1"/>
          </p:cNvSpPr>
          <p:nvPr>
            <p:ph type="subTitle" idx="1"/>
          </p:nvPr>
        </p:nvSpPr>
        <p:spPr>
          <a:xfrm>
            <a:off x="1171575" y="3806169"/>
            <a:ext cx="9469211" cy="865639"/>
          </a:xfrm>
        </p:spPr>
        <p:txBody>
          <a:bodyPr anchor="t">
            <a:normAutofit/>
          </a:bodyPr>
          <a:lstStyle/>
          <a:p>
            <a:r>
              <a:rPr lang="en-US" sz="3200">
                <a:solidFill>
                  <a:srgbClr val="FFFFFF"/>
                </a:solidFill>
              </a:rPr>
              <a:t>Predict Customer Category</a:t>
            </a:r>
          </a:p>
        </p:txBody>
      </p:sp>
    </p:spTree>
    <p:extLst>
      <p:ext uri="{BB962C8B-B14F-4D97-AF65-F5344CB8AC3E}">
        <p14:creationId xmlns:p14="http://schemas.microsoft.com/office/powerpoint/2010/main" val="4224973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684F56E-1604-4D1C-85F6-B86896C07F04}"/>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Problem Statement</a:t>
            </a:r>
          </a:p>
        </p:txBody>
      </p:sp>
      <p:sp>
        <p:nvSpPr>
          <p:cNvPr id="3" name="Content Placeholder 2">
            <a:extLst>
              <a:ext uri="{FF2B5EF4-FFF2-40B4-BE49-F238E27FC236}">
                <a16:creationId xmlns:a16="http://schemas.microsoft.com/office/drawing/2014/main" id="{F3F56D5C-6FC4-429B-8272-56EC2FCA22A8}"/>
              </a:ext>
            </a:extLst>
          </p:cNvPr>
          <p:cNvSpPr>
            <a:spLocks noGrp="1"/>
          </p:cNvSpPr>
          <p:nvPr>
            <p:ph idx="1"/>
          </p:nvPr>
        </p:nvSpPr>
        <p:spPr>
          <a:xfrm>
            <a:off x="1179226" y="3092970"/>
            <a:ext cx="9833548" cy="2693976"/>
          </a:xfrm>
        </p:spPr>
        <p:txBody>
          <a:bodyPr>
            <a:normAutofit/>
          </a:bodyPr>
          <a:lstStyle/>
          <a:p>
            <a:r>
              <a:rPr lang="en-US" sz="2000" dirty="0">
                <a:solidFill>
                  <a:srgbClr val="000000"/>
                </a:solidFill>
              </a:rPr>
              <a:t>Customer – Wants to see products that matches his needs</a:t>
            </a:r>
          </a:p>
          <a:p>
            <a:r>
              <a:rPr lang="en-US" sz="2000" dirty="0">
                <a:solidFill>
                  <a:srgbClr val="000000"/>
                </a:solidFill>
              </a:rPr>
              <a:t>Business   – Needs to show product that are more likely to buy</a:t>
            </a:r>
          </a:p>
          <a:p>
            <a:r>
              <a:rPr lang="en-US" sz="2000" dirty="0">
                <a:solidFill>
                  <a:srgbClr val="000000"/>
                </a:solidFill>
              </a:rPr>
              <a:t>Solution    – Categorize customers that are more likely to click on the displayed product search result. </a:t>
            </a:r>
          </a:p>
          <a:p>
            <a:r>
              <a:rPr lang="en-US" sz="2000" dirty="0">
                <a:solidFill>
                  <a:srgbClr val="000000"/>
                </a:solidFill>
              </a:rPr>
              <a:t>A machine learning model that accurately predicts the customer category based on features sampled from various criteria depicting the usage of the app by the customer.</a:t>
            </a:r>
          </a:p>
          <a:p>
            <a:r>
              <a:rPr lang="en-US" sz="2000" dirty="0">
                <a:solidFill>
                  <a:srgbClr val="000000"/>
                </a:solidFill>
                <a:hlinkClick r:id="rId3"/>
              </a:rPr>
              <a:t>Notebook available here.</a:t>
            </a:r>
            <a:endParaRPr lang="en-US" sz="2000" dirty="0">
              <a:solidFill>
                <a:srgbClr val="000000"/>
              </a:solidFill>
            </a:endParaRPr>
          </a:p>
        </p:txBody>
      </p:sp>
    </p:spTree>
    <p:extLst>
      <p:ext uri="{BB962C8B-B14F-4D97-AF65-F5344CB8AC3E}">
        <p14:creationId xmlns:p14="http://schemas.microsoft.com/office/powerpoint/2010/main" val="2357905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42172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FAEA6E-77AF-495A-BC41-42EF51487039}"/>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kern="1200" dirty="0">
                <a:solidFill>
                  <a:srgbClr val="000000"/>
                </a:solidFill>
                <a:latin typeface="+mj-lt"/>
                <a:ea typeface="+mj-ea"/>
                <a:cs typeface="+mj-cs"/>
              </a:rPr>
              <a:t>Basic Data Analysis</a:t>
            </a:r>
          </a:p>
        </p:txBody>
      </p:sp>
      <p:sp>
        <p:nvSpPr>
          <p:cNvPr id="16"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1159"/>
            <a:ext cx="546487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heckmark">
            <a:extLst>
              <a:ext uri="{FF2B5EF4-FFF2-40B4-BE49-F238E27FC236}">
                <a16:creationId xmlns:a16="http://schemas.microsoft.com/office/drawing/2014/main" id="{6FAE92E9-8168-47A0-A673-F91F9A9683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2264914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Rectangle 14">
            <a:extLst>
              <a:ext uri="{FF2B5EF4-FFF2-40B4-BE49-F238E27FC236}">
                <a16:creationId xmlns:a16="http://schemas.microsoft.com/office/drawing/2014/main" id="{05AD3998-CF72-48F6-90B8-F03F9C98A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2706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510644-B745-4409-8C5E-2552FB5C9A13}"/>
              </a:ext>
            </a:extLst>
          </p:cNvPr>
          <p:cNvSpPr>
            <a:spLocks noGrp="1"/>
          </p:cNvSpPr>
          <p:nvPr>
            <p:ph type="title"/>
          </p:nvPr>
        </p:nvSpPr>
        <p:spPr>
          <a:xfrm>
            <a:off x="422144" y="301420"/>
            <a:ext cx="5294293" cy="2956085"/>
          </a:xfrm>
        </p:spPr>
        <p:txBody>
          <a:bodyPr vert="horz" lIns="91440" tIns="45720" rIns="91440" bIns="45720" rtlCol="0" anchor="ctr">
            <a:normAutofit/>
          </a:bodyPr>
          <a:lstStyle/>
          <a:p>
            <a:r>
              <a:rPr lang="en-US" sz="4800"/>
              <a:t>Customer Category</a:t>
            </a:r>
          </a:p>
        </p:txBody>
      </p:sp>
      <p:sp>
        <p:nvSpPr>
          <p:cNvPr id="4" name="Text Placeholder 3">
            <a:extLst>
              <a:ext uri="{FF2B5EF4-FFF2-40B4-BE49-F238E27FC236}">
                <a16:creationId xmlns:a16="http://schemas.microsoft.com/office/drawing/2014/main" id="{5CFBB2B0-158D-413A-ADFD-14C97EF682CD}"/>
              </a:ext>
            </a:extLst>
          </p:cNvPr>
          <p:cNvSpPr>
            <a:spLocks noGrp="1"/>
          </p:cNvSpPr>
          <p:nvPr>
            <p:ph type="body" sz="half" idx="2"/>
          </p:nvPr>
        </p:nvSpPr>
        <p:spPr>
          <a:xfrm>
            <a:off x="6003984" y="281395"/>
            <a:ext cx="4956417" cy="2984320"/>
          </a:xfrm>
        </p:spPr>
        <p:txBody>
          <a:bodyPr vert="horz" lIns="91440" tIns="45720" rIns="91440" bIns="45720" rtlCol="0" anchor="ctr">
            <a:normAutofit/>
          </a:bodyPr>
          <a:lstStyle/>
          <a:p>
            <a:pPr indent="-228600">
              <a:buFont typeface="Arial" panose="020B0604020202020204" pitchFamily="34" charset="0"/>
              <a:buChar char="•"/>
            </a:pPr>
            <a:r>
              <a:rPr lang="en-US" sz="1800" dirty="0"/>
              <a:t>This is our target variable. We have to classify each customer into two categories. </a:t>
            </a:r>
          </a:p>
          <a:p>
            <a:pPr indent="-228600">
              <a:buFont typeface="Arial" panose="020B0604020202020204" pitchFamily="34" charset="0"/>
              <a:buChar char="•"/>
            </a:pPr>
            <a:r>
              <a:rPr lang="en-US" sz="1800" dirty="0"/>
              <a:t>It can be inferred from the results that the data is heavily imbalanced.</a:t>
            </a:r>
          </a:p>
          <a:p>
            <a:pPr indent="-228600">
              <a:buFont typeface="Arial" panose="020B0604020202020204" pitchFamily="34" charset="0"/>
              <a:buChar char="•"/>
            </a:pPr>
            <a:r>
              <a:rPr lang="en-US" sz="1800" dirty="0"/>
              <a:t>This means that we are very selective of the customers to whom we show our product suggestions. </a:t>
            </a:r>
          </a:p>
          <a:p>
            <a:pPr indent="-228600">
              <a:buFont typeface="Arial" panose="020B0604020202020204" pitchFamily="34" charset="0"/>
              <a:buChar char="•"/>
            </a:pPr>
            <a:endParaRPr lang="en-US" sz="1800" dirty="0"/>
          </a:p>
        </p:txBody>
      </p:sp>
      <p:pic>
        <p:nvPicPr>
          <p:cNvPr id="6" name="Content Placeholder 5">
            <a:extLst>
              <a:ext uri="{FF2B5EF4-FFF2-40B4-BE49-F238E27FC236}">
                <a16:creationId xmlns:a16="http://schemas.microsoft.com/office/drawing/2014/main" id="{4CB94247-887A-495E-BE52-ACC135272D8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614"/>
          <a:stretch/>
        </p:blipFill>
        <p:spPr>
          <a:xfrm>
            <a:off x="471569" y="3363686"/>
            <a:ext cx="10894411" cy="2796701"/>
          </a:xfrm>
          <a:prstGeom prst="rect">
            <a:avLst/>
          </a:prstGeom>
        </p:spPr>
      </p:pic>
      <p:cxnSp>
        <p:nvCxnSpPr>
          <p:cNvPr id="17" name="Straight Connector 16">
            <a:extLst>
              <a:ext uri="{FF2B5EF4-FFF2-40B4-BE49-F238E27FC236}">
                <a16:creationId xmlns:a16="http://schemas.microsoft.com/office/drawing/2014/main" id="{F085D7B9-E066-4923-8CB7-294BF30629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443840-A796-4C43-8DC1-1B738EFEC5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5193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2B7D5BF-766A-4865-A35F-7AF824483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70161"/>
            <a:ext cx="475488" cy="279022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4227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978CD-F939-4DCD-B6A8-D314DD706545}"/>
              </a:ext>
            </a:extLst>
          </p:cNvPr>
          <p:cNvSpPr>
            <a:spLocks noGrp="1"/>
          </p:cNvSpPr>
          <p:nvPr>
            <p:ph type="title"/>
          </p:nvPr>
        </p:nvSpPr>
        <p:spPr/>
        <p:txBody>
          <a:bodyPr/>
          <a:lstStyle/>
          <a:p>
            <a:r>
              <a:rPr lang="en-US" dirty="0"/>
              <a:t>Missing values</a:t>
            </a:r>
            <a:br>
              <a:rPr lang="en-US" dirty="0"/>
            </a:br>
            <a:r>
              <a:rPr lang="en-US" sz="2000" dirty="0"/>
              <a:t>Distribution of missing values in the given dataset.</a:t>
            </a:r>
            <a:endParaRPr lang="en-US" dirty="0"/>
          </a:p>
        </p:txBody>
      </p:sp>
      <p:pic>
        <p:nvPicPr>
          <p:cNvPr id="5" name="Content Placeholder 4" descr="A picture containing diagram&#10;&#10;Description automatically generated">
            <a:extLst>
              <a:ext uri="{FF2B5EF4-FFF2-40B4-BE49-F238E27FC236}">
                <a16:creationId xmlns:a16="http://schemas.microsoft.com/office/drawing/2014/main" id="{FF550D06-9A45-4D99-AA1B-450E63014A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125" y="1466850"/>
            <a:ext cx="10877550" cy="5343762"/>
          </a:xfrm>
        </p:spPr>
      </p:pic>
    </p:spTree>
    <p:extLst>
      <p:ext uri="{BB962C8B-B14F-4D97-AF65-F5344CB8AC3E}">
        <p14:creationId xmlns:p14="http://schemas.microsoft.com/office/powerpoint/2010/main" val="3231156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1E8345-5AFE-48B9-AC70-DF2E56626B49}"/>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Basic Data Analysis</a:t>
            </a:r>
          </a:p>
        </p:txBody>
      </p:sp>
      <p:sp>
        <p:nvSpPr>
          <p:cNvPr id="3" name="Content Placeholder 2">
            <a:extLst>
              <a:ext uri="{FF2B5EF4-FFF2-40B4-BE49-F238E27FC236}">
                <a16:creationId xmlns:a16="http://schemas.microsoft.com/office/drawing/2014/main" id="{71436B24-4B3C-420D-9694-283D967577E6}"/>
              </a:ext>
            </a:extLst>
          </p:cNvPr>
          <p:cNvSpPr>
            <a:spLocks noGrp="1"/>
          </p:cNvSpPr>
          <p:nvPr>
            <p:ph idx="1"/>
          </p:nvPr>
        </p:nvSpPr>
        <p:spPr>
          <a:xfrm>
            <a:off x="1179226" y="3092970"/>
            <a:ext cx="9833548" cy="2693976"/>
          </a:xfrm>
        </p:spPr>
        <p:txBody>
          <a:bodyPr>
            <a:normAutofit/>
          </a:bodyPr>
          <a:lstStyle/>
          <a:p>
            <a:r>
              <a:rPr lang="en-US" sz="2000" dirty="0">
                <a:solidFill>
                  <a:srgbClr val="000000"/>
                </a:solidFill>
              </a:rPr>
              <a:t>The data is heavily imbalanced.</a:t>
            </a:r>
          </a:p>
          <a:p>
            <a:r>
              <a:rPr lang="en-US" sz="2000" dirty="0">
                <a:solidFill>
                  <a:srgbClr val="000000"/>
                </a:solidFill>
              </a:rPr>
              <a:t>There are numerical features as well as categorical features in our dataset.</a:t>
            </a:r>
          </a:p>
          <a:p>
            <a:r>
              <a:rPr lang="en-US" sz="2000" dirty="0">
                <a:solidFill>
                  <a:srgbClr val="000000"/>
                </a:solidFill>
              </a:rPr>
              <a:t>Some of the features have missing values. </a:t>
            </a:r>
          </a:p>
          <a:p>
            <a:endParaRPr lang="en-US" sz="2000" dirty="0">
              <a:solidFill>
                <a:srgbClr val="000000"/>
              </a:solidFill>
            </a:endParaRPr>
          </a:p>
          <a:p>
            <a:pPr marL="0" indent="0">
              <a:buNone/>
            </a:pPr>
            <a:r>
              <a:rPr lang="en-US" sz="2000" dirty="0">
                <a:solidFill>
                  <a:srgbClr val="000000"/>
                </a:solidFill>
              </a:rPr>
              <a:t>Let’s analyze each feature independently and fix above problems. </a:t>
            </a:r>
          </a:p>
        </p:txBody>
      </p:sp>
    </p:spTree>
    <p:extLst>
      <p:ext uri="{BB962C8B-B14F-4D97-AF65-F5344CB8AC3E}">
        <p14:creationId xmlns:p14="http://schemas.microsoft.com/office/powerpoint/2010/main" val="3003072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42172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FAEA6E-77AF-495A-BC41-42EF51487039}"/>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100" kern="1200">
                <a:solidFill>
                  <a:srgbClr val="000000"/>
                </a:solidFill>
                <a:latin typeface="+mj-lt"/>
                <a:ea typeface="+mj-ea"/>
                <a:cs typeface="+mj-cs"/>
              </a:rPr>
              <a:t>Feature Analysis and Cleaning</a:t>
            </a:r>
          </a:p>
        </p:txBody>
      </p:sp>
      <p:sp>
        <p:nvSpPr>
          <p:cNvPr id="14"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1159"/>
            <a:ext cx="546487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heckmark">
            <a:extLst>
              <a:ext uri="{FF2B5EF4-FFF2-40B4-BE49-F238E27FC236}">
                <a16:creationId xmlns:a16="http://schemas.microsoft.com/office/drawing/2014/main" id="{6FAE92E9-8168-47A0-A673-F91F9A9683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172245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1CC89A3-857A-4D53-ADCB-0A14B4B40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7FE16-93F6-45D3-882B-C860BF2E6A1F}"/>
              </a:ext>
            </a:extLst>
          </p:cNvPr>
          <p:cNvSpPr>
            <a:spLocks noGrp="1"/>
          </p:cNvSpPr>
          <p:nvPr>
            <p:ph type="title"/>
          </p:nvPr>
        </p:nvSpPr>
        <p:spPr>
          <a:xfrm>
            <a:off x="838199" y="545747"/>
            <a:ext cx="5162891" cy="2785952"/>
          </a:xfrm>
        </p:spPr>
        <p:txBody>
          <a:bodyPr vert="horz" lIns="91440" tIns="45720" rIns="91440" bIns="45720" rtlCol="0" anchor="ctr">
            <a:normAutofit/>
          </a:bodyPr>
          <a:lstStyle/>
          <a:p>
            <a:r>
              <a:rPr lang="en-US" sz="4000"/>
              <a:t>Visit Score</a:t>
            </a:r>
          </a:p>
        </p:txBody>
      </p:sp>
      <p:sp>
        <p:nvSpPr>
          <p:cNvPr id="4" name="Text Placeholder 3">
            <a:extLst>
              <a:ext uri="{FF2B5EF4-FFF2-40B4-BE49-F238E27FC236}">
                <a16:creationId xmlns:a16="http://schemas.microsoft.com/office/drawing/2014/main" id="{B41BF0CF-52BD-45E6-BB2D-E712F0F98822}"/>
              </a:ext>
            </a:extLst>
          </p:cNvPr>
          <p:cNvSpPr>
            <a:spLocks noGrp="1"/>
          </p:cNvSpPr>
          <p:nvPr>
            <p:ph type="body" sz="half" idx="2"/>
          </p:nvPr>
        </p:nvSpPr>
        <p:spPr>
          <a:xfrm>
            <a:off x="6190910" y="545747"/>
            <a:ext cx="4992906" cy="2785953"/>
          </a:xfrm>
        </p:spPr>
        <p:txBody>
          <a:bodyPr vert="horz" lIns="91440" tIns="45720" rIns="91440" bIns="45720" rtlCol="0" anchor="ctr">
            <a:normAutofit/>
          </a:bodyPr>
          <a:lstStyle/>
          <a:p>
            <a:pPr marL="285750" indent="-228600">
              <a:buFont typeface="Arial" panose="020B0604020202020204" pitchFamily="34" charset="0"/>
              <a:buChar char="•"/>
            </a:pPr>
            <a:r>
              <a:rPr lang="en-US" sz="2000" b="0" i="0" dirty="0">
                <a:effectLst/>
              </a:rPr>
              <a:t>A score based on how regularly the customer visits the website.</a:t>
            </a:r>
          </a:p>
          <a:p>
            <a:pPr marL="285750" indent="-228600">
              <a:buFont typeface="Arial" panose="020B0604020202020204" pitchFamily="34" charset="0"/>
              <a:buChar char="•"/>
            </a:pPr>
            <a:r>
              <a:rPr lang="en-US" sz="2000" dirty="0"/>
              <a:t>Uniform Distribution</a:t>
            </a:r>
          </a:p>
          <a:p>
            <a:pPr marL="285750" indent="-228600">
              <a:buFont typeface="Arial" panose="020B0604020202020204" pitchFamily="34" charset="0"/>
              <a:buChar char="•"/>
            </a:pPr>
            <a:r>
              <a:rPr lang="en-US" sz="2000" dirty="0"/>
              <a:t>Data is noisy – Clean the data by categorizing the data into 10 classes</a:t>
            </a:r>
          </a:p>
        </p:txBody>
      </p:sp>
      <p:pic>
        <p:nvPicPr>
          <p:cNvPr id="8" name="Content Placeholder 7" descr="Chart, histogram&#10;&#10;Description automatically generated">
            <a:extLst>
              <a:ext uri="{FF2B5EF4-FFF2-40B4-BE49-F238E27FC236}">
                <a16:creationId xmlns:a16="http://schemas.microsoft.com/office/drawing/2014/main" id="{7F229B67-E609-4D74-9327-68EC2DFB3A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936" r="4369" b="1"/>
          <a:stretch/>
        </p:blipFill>
        <p:spPr>
          <a:xfrm>
            <a:off x="182881" y="3526300"/>
            <a:ext cx="11834494" cy="3157668"/>
          </a:xfrm>
          <a:prstGeom prst="rect">
            <a:avLst/>
          </a:prstGeom>
        </p:spPr>
      </p:pic>
    </p:spTree>
    <p:extLst>
      <p:ext uri="{BB962C8B-B14F-4D97-AF65-F5344CB8AC3E}">
        <p14:creationId xmlns:p14="http://schemas.microsoft.com/office/powerpoint/2010/main" val="2455074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1CC89A3-857A-4D53-ADCB-0A14B4B40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7FE16-93F6-45D3-882B-C860BF2E6A1F}"/>
              </a:ext>
            </a:extLst>
          </p:cNvPr>
          <p:cNvSpPr>
            <a:spLocks noGrp="1"/>
          </p:cNvSpPr>
          <p:nvPr>
            <p:ph type="title"/>
          </p:nvPr>
        </p:nvSpPr>
        <p:spPr>
          <a:xfrm>
            <a:off x="838199" y="545747"/>
            <a:ext cx="5162891" cy="2785952"/>
          </a:xfrm>
        </p:spPr>
        <p:txBody>
          <a:bodyPr vert="horz" lIns="91440" tIns="45720" rIns="91440" bIns="45720" rtlCol="0" anchor="ctr">
            <a:normAutofit/>
          </a:bodyPr>
          <a:lstStyle/>
          <a:p>
            <a:r>
              <a:rPr lang="en-US" sz="4000" dirty="0"/>
              <a:t>Product Search Score</a:t>
            </a:r>
          </a:p>
        </p:txBody>
      </p:sp>
      <p:sp>
        <p:nvSpPr>
          <p:cNvPr id="4" name="Text Placeholder 3">
            <a:extLst>
              <a:ext uri="{FF2B5EF4-FFF2-40B4-BE49-F238E27FC236}">
                <a16:creationId xmlns:a16="http://schemas.microsoft.com/office/drawing/2014/main" id="{B41BF0CF-52BD-45E6-BB2D-E712F0F98822}"/>
              </a:ext>
            </a:extLst>
          </p:cNvPr>
          <p:cNvSpPr>
            <a:spLocks noGrp="1"/>
          </p:cNvSpPr>
          <p:nvPr>
            <p:ph type="body" sz="half" idx="2"/>
          </p:nvPr>
        </p:nvSpPr>
        <p:spPr>
          <a:xfrm>
            <a:off x="6190910" y="545747"/>
            <a:ext cx="4992906" cy="2785953"/>
          </a:xfrm>
        </p:spPr>
        <p:txBody>
          <a:bodyPr vert="horz" lIns="91440" tIns="45720" rIns="91440" bIns="45720" rtlCol="0" anchor="ctr">
            <a:normAutofit/>
          </a:bodyPr>
          <a:lstStyle/>
          <a:p>
            <a:pPr marL="285750" indent="-228600">
              <a:buFont typeface="Arial" panose="020B0604020202020204" pitchFamily="34" charset="0"/>
              <a:buChar char="•"/>
            </a:pPr>
            <a:r>
              <a:rPr lang="en-US" sz="2000" b="0" i="0" dirty="0">
                <a:effectLst/>
              </a:rPr>
              <a:t>Quality or price range of product that the customer searches for.</a:t>
            </a:r>
          </a:p>
          <a:p>
            <a:pPr marL="285750" indent="-228600">
              <a:buFont typeface="Arial" panose="020B0604020202020204" pitchFamily="34" charset="0"/>
              <a:buChar char="•"/>
            </a:pPr>
            <a:r>
              <a:rPr lang="en-US" sz="2000" dirty="0"/>
              <a:t>Normal Distribution – Missing values are filled from values randomly sampled from the distribution.</a:t>
            </a:r>
          </a:p>
        </p:txBody>
      </p:sp>
      <p:pic>
        <p:nvPicPr>
          <p:cNvPr id="8" name="Content Placeholder 7">
            <a:extLst>
              <a:ext uri="{FF2B5EF4-FFF2-40B4-BE49-F238E27FC236}">
                <a16:creationId xmlns:a16="http://schemas.microsoft.com/office/drawing/2014/main" id="{7F229B67-E609-4D74-9327-68EC2DFB3A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6304" b="1"/>
          <a:stretch/>
        </p:blipFill>
        <p:spPr>
          <a:xfrm>
            <a:off x="182881" y="3526300"/>
            <a:ext cx="11834494" cy="3157668"/>
          </a:xfrm>
          <a:prstGeom prst="rect">
            <a:avLst/>
          </a:prstGeom>
        </p:spPr>
      </p:pic>
    </p:spTree>
    <p:extLst>
      <p:ext uri="{BB962C8B-B14F-4D97-AF65-F5344CB8AC3E}">
        <p14:creationId xmlns:p14="http://schemas.microsoft.com/office/powerpoint/2010/main" val="1843991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1CC89A3-857A-4D53-ADCB-0A14B4B40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7FE16-93F6-45D3-882B-C860BF2E6A1F}"/>
              </a:ext>
            </a:extLst>
          </p:cNvPr>
          <p:cNvSpPr>
            <a:spLocks noGrp="1"/>
          </p:cNvSpPr>
          <p:nvPr>
            <p:ph type="title"/>
          </p:nvPr>
        </p:nvSpPr>
        <p:spPr>
          <a:xfrm>
            <a:off x="838199" y="545747"/>
            <a:ext cx="5162891" cy="2785952"/>
          </a:xfrm>
        </p:spPr>
        <p:txBody>
          <a:bodyPr vert="horz" lIns="91440" tIns="45720" rIns="91440" bIns="45720" rtlCol="0" anchor="ctr">
            <a:normAutofit/>
          </a:bodyPr>
          <a:lstStyle/>
          <a:p>
            <a:r>
              <a:rPr lang="en-US" sz="4000" dirty="0"/>
              <a:t>CTR &amp; Stay Scores</a:t>
            </a:r>
          </a:p>
        </p:txBody>
      </p:sp>
      <p:sp>
        <p:nvSpPr>
          <p:cNvPr id="4" name="Text Placeholder 3">
            <a:extLst>
              <a:ext uri="{FF2B5EF4-FFF2-40B4-BE49-F238E27FC236}">
                <a16:creationId xmlns:a16="http://schemas.microsoft.com/office/drawing/2014/main" id="{B41BF0CF-52BD-45E6-BB2D-E712F0F98822}"/>
              </a:ext>
            </a:extLst>
          </p:cNvPr>
          <p:cNvSpPr>
            <a:spLocks noGrp="1"/>
          </p:cNvSpPr>
          <p:nvPr>
            <p:ph type="body" sz="half" idx="2"/>
          </p:nvPr>
        </p:nvSpPr>
        <p:spPr>
          <a:xfrm>
            <a:off x="6190910" y="545747"/>
            <a:ext cx="4992906" cy="2785953"/>
          </a:xfrm>
        </p:spPr>
        <p:txBody>
          <a:bodyPr vert="horz" lIns="91440" tIns="45720" rIns="91440" bIns="45720" rtlCol="0" anchor="ctr">
            <a:normAutofit/>
          </a:bodyPr>
          <a:lstStyle/>
          <a:p>
            <a:pPr marL="285750" indent="-228600">
              <a:buFont typeface="Arial" panose="020B0604020202020204" pitchFamily="34" charset="0"/>
              <a:buChar char="•"/>
            </a:pPr>
            <a:r>
              <a:rPr lang="en-US" sz="2000" b="0" i="0" dirty="0">
                <a:effectLst/>
              </a:rPr>
              <a:t>Ctr Score : How many of the searched links does the customer click.</a:t>
            </a:r>
          </a:p>
          <a:p>
            <a:pPr marL="285750" indent="-228600">
              <a:buFont typeface="Arial" panose="020B0604020202020204" pitchFamily="34" charset="0"/>
              <a:buChar char="•"/>
            </a:pPr>
            <a:r>
              <a:rPr lang="en-US" sz="2000" b="0" i="0" dirty="0">
                <a:effectLst/>
              </a:rPr>
              <a:t>Stay Score: A score based on the time spent on an avg. by the customer.</a:t>
            </a:r>
          </a:p>
          <a:p>
            <a:pPr marL="285750" indent="-228600">
              <a:buFont typeface="Arial" panose="020B0604020202020204" pitchFamily="34" charset="0"/>
              <a:buChar char="•"/>
            </a:pPr>
            <a:r>
              <a:rPr lang="en-US" sz="2000" dirty="0"/>
              <a:t>We can observe that these two scores are heavily correlated which says that the more the person stays, the more likely he is to click on the link.</a:t>
            </a:r>
          </a:p>
        </p:txBody>
      </p:sp>
      <p:pic>
        <p:nvPicPr>
          <p:cNvPr id="8" name="Content Placeholder 7">
            <a:extLst>
              <a:ext uri="{FF2B5EF4-FFF2-40B4-BE49-F238E27FC236}">
                <a16:creationId xmlns:a16="http://schemas.microsoft.com/office/drawing/2014/main" id="{7F229B67-E609-4D74-9327-68EC2DFB3A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6304" b="1"/>
          <a:stretch/>
        </p:blipFill>
        <p:spPr>
          <a:xfrm>
            <a:off x="182881" y="3526300"/>
            <a:ext cx="11834494" cy="3157668"/>
          </a:xfrm>
          <a:prstGeom prst="rect">
            <a:avLst/>
          </a:prstGeom>
        </p:spPr>
      </p:pic>
    </p:spTree>
    <p:extLst>
      <p:ext uri="{BB962C8B-B14F-4D97-AF65-F5344CB8AC3E}">
        <p14:creationId xmlns:p14="http://schemas.microsoft.com/office/powerpoint/2010/main" val="2760279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1CC89A3-857A-4D53-ADCB-0A14B4B40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7FE16-93F6-45D3-882B-C860BF2E6A1F}"/>
              </a:ext>
            </a:extLst>
          </p:cNvPr>
          <p:cNvSpPr>
            <a:spLocks noGrp="1"/>
          </p:cNvSpPr>
          <p:nvPr>
            <p:ph type="title"/>
          </p:nvPr>
        </p:nvSpPr>
        <p:spPr>
          <a:xfrm>
            <a:off x="838199" y="545747"/>
            <a:ext cx="5162891" cy="2785952"/>
          </a:xfrm>
        </p:spPr>
        <p:txBody>
          <a:bodyPr vert="horz" lIns="91440" tIns="45720" rIns="91440" bIns="45720" rtlCol="0" anchor="ctr">
            <a:normAutofit/>
          </a:bodyPr>
          <a:lstStyle/>
          <a:p>
            <a:r>
              <a:rPr lang="en-US" sz="4000" dirty="0"/>
              <a:t>CTR &amp; Stay Scores</a:t>
            </a:r>
          </a:p>
        </p:txBody>
      </p:sp>
      <p:sp>
        <p:nvSpPr>
          <p:cNvPr id="4" name="Text Placeholder 3">
            <a:extLst>
              <a:ext uri="{FF2B5EF4-FFF2-40B4-BE49-F238E27FC236}">
                <a16:creationId xmlns:a16="http://schemas.microsoft.com/office/drawing/2014/main" id="{B41BF0CF-52BD-45E6-BB2D-E712F0F98822}"/>
              </a:ext>
            </a:extLst>
          </p:cNvPr>
          <p:cNvSpPr>
            <a:spLocks noGrp="1"/>
          </p:cNvSpPr>
          <p:nvPr>
            <p:ph type="body" sz="half" idx="2"/>
          </p:nvPr>
        </p:nvSpPr>
        <p:spPr>
          <a:xfrm>
            <a:off x="6190910" y="545747"/>
            <a:ext cx="4992906" cy="2785953"/>
          </a:xfrm>
        </p:spPr>
        <p:txBody>
          <a:bodyPr vert="horz" lIns="91440" tIns="45720" rIns="91440" bIns="45720" rtlCol="0" anchor="ctr">
            <a:normAutofit/>
          </a:bodyPr>
          <a:lstStyle/>
          <a:p>
            <a:pPr marL="285750" indent="-228600">
              <a:buFont typeface="Arial" panose="020B0604020202020204" pitchFamily="34" charset="0"/>
              <a:buChar char="•"/>
            </a:pPr>
            <a:r>
              <a:rPr lang="en-US" sz="2000" dirty="0"/>
              <a:t>It can be inferred from the scatter plot that most of the data is concentrated towards the lower end.</a:t>
            </a:r>
          </a:p>
          <a:p>
            <a:pPr marL="285750" indent="-228600">
              <a:buFont typeface="Arial" panose="020B0604020202020204" pitchFamily="34" charset="0"/>
              <a:buChar char="•"/>
            </a:pPr>
            <a:r>
              <a:rPr lang="en-US" sz="2000" dirty="0"/>
              <a:t>This explains the positive correlation of these factors with target customer category and much of target belonging to category 0.</a:t>
            </a:r>
          </a:p>
          <a:p>
            <a:pPr marL="285750" indent="-228600">
              <a:buFont typeface="Arial" panose="020B0604020202020204" pitchFamily="34" charset="0"/>
              <a:buChar char="•"/>
            </a:pPr>
            <a:r>
              <a:rPr lang="en-US" sz="2000" dirty="0"/>
              <a:t>Missing values in Stay Score are imputed using KNN Imputer modelled on CTR score.</a:t>
            </a:r>
          </a:p>
        </p:txBody>
      </p:sp>
      <p:pic>
        <p:nvPicPr>
          <p:cNvPr id="8" name="Content Placeholder 7">
            <a:extLst>
              <a:ext uri="{FF2B5EF4-FFF2-40B4-BE49-F238E27FC236}">
                <a16:creationId xmlns:a16="http://schemas.microsoft.com/office/drawing/2014/main" id="{7F229B67-E609-4D74-9327-68EC2DFB3A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6303" r="1" b="1"/>
          <a:stretch/>
        </p:blipFill>
        <p:spPr>
          <a:xfrm>
            <a:off x="182881" y="3526300"/>
            <a:ext cx="11834494" cy="3157668"/>
          </a:xfrm>
          <a:prstGeom prst="rect">
            <a:avLst/>
          </a:prstGeom>
        </p:spPr>
      </p:pic>
    </p:spTree>
    <p:extLst>
      <p:ext uri="{BB962C8B-B14F-4D97-AF65-F5344CB8AC3E}">
        <p14:creationId xmlns:p14="http://schemas.microsoft.com/office/powerpoint/2010/main" val="4015350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7FE16-93F6-45D3-882B-C860BF2E6A1F}"/>
              </a:ext>
            </a:extLst>
          </p:cNvPr>
          <p:cNvSpPr>
            <a:spLocks noGrp="1"/>
          </p:cNvSpPr>
          <p:nvPr>
            <p:ph type="title"/>
          </p:nvPr>
        </p:nvSpPr>
        <p:spPr>
          <a:xfrm>
            <a:off x="838199" y="545747"/>
            <a:ext cx="5162891" cy="2785952"/>
          </a:xfrm>
        </p:spPr>
        <p:txBody>
          <a:bodyPr vert="horz" lIns="91440" tIns="45720" rIns="91440" bIns="45720" rtlCol="0" anchor="ctr">
            <a:normAutofit/>
          </a:bodyPr>
          <a:lstStyle/>
          <a:p>
            <a:r>
              <a:rPr lang="en-US" sz="4000" dirty="0"/>
              <a:t>Other Features</a:t>
            </a:r>
          </a:p>
        </p:txBody>
      </p:sp>
      <p:sp>
        <p:nvSpPr>
          <p:cNvPr id="4" name="Text Placeholder 3">
            <a:extLst>
              <a:ext uri="{FF2B5EF4-FFF2-40B4-BE49-F238E27FC236}">
                <a16:creationId xmlns:a16="http://schemas.microsoft.com/office/drawing/2014/main" id="{B41BF0CF-52BD-45E6-BB2D-E712F0F98822}"/>
              </a:ext>
            </a:extLst>
          </p:cNvPr>
          <p:cNvSpPr>
            <a:spLocks noGrp="1"/>
          </p:cNvSpPr>
          <p:nvPr>
            <p:ph type="body" sz="half" idx="2"/>
          </p:nvPr>
        </p:nvSpPr>
        <p:spPr>
          <a:xfrm>
            <a:off x="6190910" y="545747"/>
            <a:ext cx="4992906" cy="2785953"/>
          </a:xfrm>
        </p:spPr>
        <p:txBody>
          <a:bodyPr vert="horz" lIns="91440" tIns="45720" rIns="91440" bIns="45720" rtlCol="0" anchor="ctr">
            <a:normAutofit/>
          </a:bodyPr>
          <a:lstStyle/>
          <a:p>
            <a:pPr marL="285750" indent="-228600">
              <a:buFont typeface="Arial" panose="020B0604020202020204" pitchFamily="34" charset="0"/>
              <a:buChar char="•"/>
            </a:pPr>
            <a:r>
              <a:rPr lang="en-US" sz="2000" dirty="0"/>
              <a:t>Frequency Score – Frequency of customers visit to the website</a:t>
            </a:r>
          </a:p>
          <a:p>
            <a:pPr marL="285750" indent="-228600">
              <a:buFont typeface="Arial" panose="020B0604020202020204" pitchFamily="34" charset="0"/>
              <a:buChar char="•"/>
            </a:pPr>
            <a:r>
              <a:rPr lang="en-US" sz="2000" dirty="0"/>
              <a:t>Product variation score – Score based on the variety of products seen by customer.</a:t>
            </a:r>
          </a:p>
          <a:p>
            <a:pPr marL="285750" indent="-228600">
              <a:buFont typeface="Arial" panose="020B0604020202020204" pitchFamily="34" charset="0"/>
              <a:buChar char="•"/>
            </a:pPr>
            <a:r>
              <a:rPr lang="en-US" sz="2000" dirty="0"/>
              <a:t>Order score – Reliability of customer in not returning the order.</a:t>
            </a:r>
          </a:p>
          <a:p>
            <a:pPr marL="285750" indent="-228600">
              <a:buFont typeface="Arial" panose="020B0604020202020204" pitchFamily="34" charset="0"/>
              <a:buChar char="•"/>
            </a:pPr>
            <a:r>
              <a:rPr lang="en-US" sz="2000" dirty="0"/>
              <a:t>Affinity Score – Customers affinity to the website.</a:t>
            </a:r>
          </a:p>
        </p:txBody>
      </p:sp>
      <p:pic>
        <p:nvPicPr>
          <p:cNvPr id="8" name="Content Placeholder 7">
            <a:extLst>
              <a:ext uri="{FF2B5EF4-FFF2-40B4-BE49-F238E27FC236}">
                <a16:creationId xmlns:a16="http://schemas.microsoft.com/office/drawing/2014/main" id="{7F229B67-E609-4D74-9327-68EC2DFB3A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42" r="14439"/>
          <a:stretch/>
        </p:blipFill>
        <p:spPr>
          <a:xfrm>
            <a:off x="182881" y="3526300"/>
            <a:ext cx="10837544" cy="3157668"/>
          </a:xfrm>
          <a:prstGeom prst="rect">
            <a:avLst/>
          </a:prstGeom>
        </p:spPr>
      </p:pic>
    </p:spTree>
    <p:extLst>
      <p:ext uri="{BB962C8B-B14F-4D97-AF65-F5344CB8AC3E}">
        <p14:creationId xmlns:p14="http://schemas.microsoft.com/office/powerpoint/2010/main" val="1058946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Chart, histogram&#10;&#10;Description automatically generated">
            <a:extLst>
              <a:ext uri="{FF2B5EF4-FFF2-40B4-BE49-F238E27FC236}">
                <a16:creationId xmlns:a16="http://schemas.microsoft.com/office/drawing/2014/main" id="{401B0D17-5FBA-455D-824A-3D7E7CC4F86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7734" t="1536" r="7422"/>
          <a:stretch/>
        </p:blipFill>
        <p:spPr>
          <a:xfrm>
            <a:off x="0" y="206071"/>
            <a:ext cx="12192000" cy="4801868"/>
          </a:xfrm>
          <a:prstGeom prst="rect">
            <a:avLst/>
          </a:prstGeom>
        </p:spPr>
      </p:pic>
      <p:pic>
        <p:nvPicPr>
          <p:cNvPr id="29" name="Picture 28">
            <a:extLst>
              <a:ext uri="{FF2B5EF4-FFF2-40B4-BE49-F238E27FC236}">
                <a16:creationId xmlns:a16="http://schemas.microsoft.com/office/drawing/2014/main" id="{D266A5D8-E184-4E8F-9001-D6F41E3974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35" t="20008" r="8214" b="59122"/>
          <a:stretch/>
        </p:blipFill>
        <p:spPr>
          <a:xfrm flipV="1">
            <a:off x="0" y="0"/>
            <a:ext cx="12191999" cy="1713062"/>
          </a:xfrm>
          <a:custGeom>
            <a:avLst/>
            <a:gdLst>
              <a:gd name="connsiteX0" fmla="*/ 0 w 12191999"/>
              <a:gd name="connsiteY0" fmla="*/ 1713062 h 1713062"/>
              <a:gd name="connsiteX1" fmla="*/ 12191999 w 12191999"/>
              <a:gd name="connsiteY1" fmla="*/ 1713062 h 1713062"/>
              <a:gd name="connsiteX2" fmla="*/ 12191999 w 12191999"/>
              <a:gd name="connsiteY2" fmla="*/ 0 h 1713062"/>
              <a:gd name="connsiteX3" fmla="*/ 0 w 12191999"/>
              <a:gd name="connsiteY3" fmla="*/ 0 h 1713062"/>
            </a:gdLst>
            <a:ahLst/>
            <a:cxnLst>
              <a:cxn ang="0">
                <a:pos x="connsiteX0" y="connsiteY0"/>
              </a:cxn>
              <a:cxn ang="0">
                <a:pos x="connsiteX1" y="connsiteY1"/>
              </a:cxn>
              <a:cxn ang="0">
                <a:pos x="connsiteX2" y="connsiteY2"/>
              </a:cxn>
              <a:cxn ang="0">
                <a:pos x="connsiteX3" y="connsiteY3"/>
              </a:cxn>
            </a:cxnLst>
            <a:rect l="l" t="t" r="r" b="b"/>
            <a:pathLst>
              <a:path w="12191999" h="1713062">
                <a:moveTo>
                  <a:pt x="0" y="1713062"/>
                </a:moveTo>
                <a:lnTo>
                  <a:pt x="12191999" y="1713062"/>
                </a:lnTo>
                <a:lnTo>
                  <a:pt x="12191999" y="0"/>
                </a:lnTo>
                <a:lnTo>
                  <a:pt x="0" y="0"/>
                </a:lnTo>
                <a:close/>
              </a:path>
            </a:pathLst>
          </a:custGeom>
        </p:spPr>
      </p:pic>
      <p:pic>
        <p:nvPicPr>
          <p:cNvPr id="31" name="Picture 30">
            <a:extLst>
              <a:ext uri="{FF2B5EF4-FFF2-40B4-BE49-F238E27FC236}">
                <a16:creationId xmlns:a16="http://schemas.microsoft.com/office/drawing/2014/main" id="{4EB1D02B-BBFA-4A97-A021-7816ECC349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35" t="-1" r="8214" b="80325"/>
          <a:stretch/>
        </p:blipFill>
        <p:spPr>
          <a:xfrm flipV="1">
            <a:off x="0" y="3840845"/>
            <a:ext cx="12195047" cy="1614974"/>
          </a:xfrm>
          <a:custGeom>
            <a:avLst/>
            <a:gdLst>
              <a:gd name="connsiteX0" fmla="*/ 0 w 12191999"/>
              <a:gd name="connsiteY0" fmla="*/ 1614974 h 1614974"/>
              <a:gd name="connsiteX1" fmla="*/ 12191999 w 12191999"/>
              <a:gd name="connsiteY1" fmla="*/ 1614974 h 1614974"/>
              <a:gd name="connsiteX2" fmla="*/ 12191999 w 12191999"/>
              <a:gd name="connsiteY2" fmla="*/ 0 h 1614974"/>
              <a:gd name="connsiteX3" fmla="*/ 0 w 12191999"/>
              <a:gd name="connsiteY3" fmla="*/ 0 h 1614974"/>
            </a:gdLst>
            <a:ahLst/>
            <a:cxnLst>
              <a:cxn ang="0">
                <a:pos x="connsiteX0" y="connsiteY0"/>
              </a:cxn>
              <a:cxn ang="0">
                <a:pos x="connsiteX1" y="connsiteY1"/>
              </a:cxn>
              <a:cxn ang="0">
                <a:pos x="connsiteX2" y="connsiteY2"/>
              </a:cxn>
              <a:cxn ang="0">
                <a:pos x="connsiteX3" y="connsiteY3"/>
              </a:cxn>
            </a:cxnLst>
            <a:rect l="l" t="t" r="r" b="b"/>
            <a:pathLst>
              <a:path w="12191999" h="1614974">
                <a:moveTo>
                  <a:pt x="0" y="1614974"/>
                </a:moveTo>
                <a:lnTo>
                  <a:pt x="12191999" y="1614974"/>
                </a:lnTo>
                <a:lnTo>
                  <a:pt x="12191999" y="0"/>
                </a:lnTo>
                <a:lnTo>
                  <a:pt x="0" y="0"/>
                </a:lnTo>
                <a:close/>
              </a:path>
            </a:pathLst>
          </a:custGeom>
        </p:spPr>
      </p:pic>
      <p:sp>
        <p:nvSpPr>
          <p:cNvPr id="33" name="Rectangle 32">
            <a:extLst>
              <a:ext uri="{FF2B5EF4-FFF2-40B4-BE49-F238E27FC236}">
                <a16:creationId xmlns:a16="http://schemas.microsoft.com/office/drawing/2014/main" id="{BDD7BED2-CC5E-4866-AC0C-DCF928AF8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5390368"/>
            <a:ext cx="12188952" cy="14676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7C8FA-E890-41E0-BD50-0778FA1BE5AC}"/>
              </a:ext>
            </a:extLst>
          </p:cNvPr>
          <p:cNvSpPr>
            <a:spLocks noGrp="1"/>
          </p:cNvSpPr>
          <p:nvPr>
            <p:ph type="title"/>
          </p:nvPr>
        </p:nvSpPr>
        <p:spPr>
          <a:xfrm>
            <a:off x="804484" y="5566756"/>
            <a:ext cx="10592174" cy="656946"/>
          </a:xfrm>
        </p:spPr>
        <p:txBody>
          <a:bodyPr vert="horz" lIns="91440" tIns="45720" rIns="91440" bIns="45720" rtlCol="0" anchor="t">
            <a:normAutofit/>
          </a:bodyPr>
          <a:lstStyle/>
          <a:p>
            <a:r>
              <a:rPr lang="en-US" sz="4000" dirty="0">
                <a:solidFill>
                  <a:srgbClr val="000000"/>
                </a:solidFill>
              </a:rPr>
              <a:t>Distribution Plots for remaining features</a:t>
            </a:r>
          </a:p>
        </p:txBody>
      </p:sp>
    </p:spTree>
    <p:extLst>
      <p:ext uri="{BB962C8B-B14F-4D97-AF65-F5344CB8AC3E}">
        <p14:creationId xmlns:p14="http://schemas.microsoft.com/office/powerpoint/2010/main" val="1702779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AB7FE16-93F6-45D3-882B-C860BF2E6A1F}"/>
              </a:ext>
            </a:extLst>
          </p:cNvPr>
          <p:cNvSpPr>
            <a:spLocks noGrp="1"/>
          </p:cNvSpPr>
          <p:nvPr>
            <p:ph type="title"/>
          </p:nvPr>
        </p:nvSpPr>
        <p:spPr>
          <a:xfrm>
            <a:off x="1179226" y="826680"/>
            <a:ext cx="9833548" cy="1325563"/>
          </a:xfrm>
        </p:spPr>
        <p:txBody>
          <a:bodyPr vert="horz" lIns="91440" tIns="45720" rIns="91440" bIns="45720" rtlCol="0" anchor="ctr">
            <a:normAutofit/>
          </a:bodyPr>
          <a:lstStyle/>
          <a:p>
            <a:pPr algn="ctr"/>
            <a:r>
              <a:rPr lang="en-US" sz="4000" kern="1200">
                <a:solidFill>
                  <a:srgbClr val="FFFFFF"/>
                </a:solidFill>
                <a:latin typeface="+mj-lt"/>
                <a:ea typeface="+mj-ea"/>
                <a:cs typeface="+mj-cs"/>
              </a:rPr>
              <a:t>Feature Inference</a:t>
            </a:r>
          </a:p>
        </p:txBody>
      </p:sp>
      <p:sp>
        <p:nvSpPr>
          <p:cNvPr id="4" name="Text Placeholder 3">
            <a:extLst>
              <a:ext uri="{FF2B5EF4-FFF2-40B4-BE49-F238E27FC236}">
                <a16:creationId xmlns:a16="http://schemas.microsoft.com/office/drawing/2014/main" id="{B41BF0CF-52BD-45E6-BB2D-E712F0F98822}"/>
              </a:ext>
            </a:extLst>
          </p:cNvPr>
          <p:cNvSpPr>
            <a:spLocks noGrp="1"/>
          </p:cNvSpPr>
          <p:nvPr>
            <p:ph type="body" sz="half" idx="2"/>
          </p:nvPr>
        </p:nvSpPr>
        <p:spPr>
          <a:xfrm>
            <a:off x="1179226" y="3092970"/>
            <a:ext cx="9833548" cy="2693976"/>
          </a:xfrm>
        </p:spPr>
        <p:txBody>
          <a:bodyPr vert="horz" lIns="91440" tIns="45720" rIns="91440" bIns="45720" rtlCol="0">
            <a:normAutofit fontScale="92500" lnSpcReduction="10000"/>
          </a:bodyPr>
          <a:lstStyle/>
          <a:p>
            <a:pPr marL="285750" indent="-228600">
              <a:buFont typeface="Arial" panose="020B0604020202020204" pitchFamily="34" charset="0"/>
              <a:buChar char="•"/>
            </a:pPr>
            <a:r>
              <a:rPr lang="en-US" sz="2000" dirty="0">
                <a:solidFill>
                  <a:srgbClr val="000000"/>
                </a:solidFill>
              </a:rPr>
              <a:t>Frequency and Product Variation scores, Order and Affinity scores are positively correlated. </a:t>
            </a:r>
          </a:p>
          <a:p>
            <a:pPr marL="285750" indent="-228600">
              <a:buFont typeface="Arial" panose="020B0604020202020204" pitchFamily="34" charset="0"/>
              <a:buChar char="•"/>
            </a:pPr>
            <a:r>
              <a:rPr lang="en-US" sz="2000" dirty="0">
                <a:solidFill>
                  <a:srgbClr val="000000"/>
                </a:solidFill>
              </a:rPr>
              <a:t>From the scatter plots, for frequency and product variation score, we can infer that the scores are densely packed to the lower end because they have a positive correlation in predicting the customer category.</a:t>
            </a:r>
          </a:p>
          <a:p>
            <a:pPr marL="285750" indent="-228600">
              <a:buFont typeface="Arial" panose="020B0604020202020204" pitchFamily="34" charset="0"/>
              <a:buChar char="•"/>
            </a:pPr>
            <a:r>
              <a:rPr lang="en-US" sz="2000" dirty="0">
                <a:solidFill>
                  <a:srgbClr val="000000"/>
                </a:solidFill>
              </a:rPr>
              <a:t>As expected, order score has a negative correlation with our customer category, because we don’t want to show our products to customers that are more likely to return it back.</a:t>
            </a:r>
          </a:p>
          <a:p>
            <a:pPr marL="285750" indent="-228600">
              <a:buFont typeface="Arial" panose="020B0604020202020204" pitchFamily="34" charset="0"/>
              <a:buChar char="•"/>
            </a:pPr>
            <a:r>
              <a:rPr lang="en-US" sz="2000" dirty="0">
                <a:solidFill>
                  <a:srgbClr val="000000"/>
                </a:solidFill>
              </a:rPr>
              <a:t>For handling missing values in Order score, random scores are sampled from its distribution. In product variation score, an iterative imputer called Mice Imputer is used that fills the missing values by modelling the current feature on rest of the features iteratively.</a:t>
            </a:r>
          </a:p>
          <a:p>
            <a:pPr marL="285750" indent="-228600">
              <a:buFont typeface="Arial" panose="020B0604020202020204" pitchFamily="34" charset="0"/>
              <a:buChar char="•"/>
            </a:pPr>
            <a:endParaRPr lang="en-US" sz="2000" dirty="0">
              <a:solidFill>
                <a:srgbClr val="000000"/>
              </a:solidFill>
            </a:endParaRPr>
          </a:p>
          <a:p>
            <a:pPr marL="285750" indent="-228600">
              <a:buFont typeface="Arial" panose="020B0604020202020204" pitchFamily="34" charset="0"/>
              <a:buChar char="•"/>
            </a:pPr>
            <a:endParaRPr lang="en-US" sz="2000" dirty="0">
              <a:solidFill>
                <a:srgbClr val="000000"/>
              </a:solidFill>
            </a:endParaRPr>
          </a:p>
          <a:p>
            <a:pPr marL="285750" indent="-228600">
              <a:buFont typeface="Arial" panose="020B0604020202020204" pitchFamily="34" charset="0"/>
              <a:buChar char="•"/>
            </a:pPr>
            <a:endParaRPr lang="en-US" sz="2000" dirty="0">
              <a:solidFill>
                <a:srgbClr val="000000"/>
              </a:solidFill>
            </a:endParaRPr>
          </a:p>
        </p:txBody>
      </p:sp>
    </p:spTree>
    <p:extLst>
      <p:ext uri="{BB962C8B-B14F-4D97-AF65-F5344CB8AC3E}">
        <p14:creationId xmlns:p14="http://schemas.microsoft.com/office/powerpoint/2010/main" val="681124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3">
            <a:extLst>
              <a:ext uri="{FF2B5EF4-FFF2-40B4-BE49-F238E27FC236}">
                <a16:creationId xmlns:a16="http://schemas.microsoft.com/office/drawing/2014/main" id="{75F4D120-3921-42A8-A063-46B023CB0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5">
            <a:extLst>
              <a:ext uri="{FF2B5EF4-FFF2-40B4-BE49-F238E27FC236}">
                <a16:creationId xmlns:a16="http://schemas.microsoft.com/office/drawing/2014/main" id="{9D01B3E5-85F4-41A9-A504-D5E6268DEC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r="14729"/>
          <a:stretch>
            <a:fillRect/>
          </a:stretch>
        </p:blipFill>
        <p:spPr>
          <a:xfrm>
            <a:off x="3466214" y="550975"/>
            <a:ext cx="8725786" cy="5756049"/>
          </a:xfrm>
          <a:custGeom>
            <a:avLst/>
            <a:gdLst>
              <a:gd name="connsiteX0" fmla="*/ 0 w 8725786"/>
              <a:gd name="connsiteY0" fmla="*/ 0 h 5756049"/>
              <a:gd name="connsiteX1" fmla="*/ 8725786 w 8725786"/>
              <a:gd name="connsiteY1" fmla="*/ 0 h 5756049"/>
              <a:gd name="connsiteX2" fmla="*/ 8725786 w 8725786"/>
              <a:gd name="connsiteY2" fmla="*/ 5756049 h 5756049"/>
              <a:gd name="connsiteX3" fmla="*/ 0 w 8725786"/>
              <a:gd name="connsiteY3" fmla="*/ 5756049 h 5756049"/>
            </a:gdLst>
            <a:ahLst/>
            <a:cxnLst>
              <a:cxn ang="0">
                <a:pos x="connsiteX0" y="connsiteY0"/>
              </a:cxn>
              <a:cxn ang="0">
                <a:pos x="connsiteX1" y="connsiteY1"/>
              </a:cxn>
              <a:cxn ang="0">
                <a:pos x="connsiteX2" y="connsiteY2"/>
              </a:cxn>
              <a:cxn ang="0">
                <a:pos x="connsiteX3" y="connsiteY3"/>
              </a:cxn>
            </a:cxnLst>
            <a:rect l="l" t="t" r="r" b="b"/>
            <a:pathLst>
              <a:path w="8725786" h="5756049">
                <a:moveTo>
                  <a:pt x="0" y="0"/>
                </a:moveTo>
                <a:lnTo>
                  <a:pt x="8725786" y="0"/>
                </a:lnTo>
                <a:lnTo>
                  <a:pt x="8725786" y="5756049"/>
                </a:lnTo>
                <a:lnTo>
                  <a:pt x="0" y="5756049"/>
                </a:lnTo>
                <a:close/>
              </a:path>
            </a:pathLst>
          </a:custGeom>
        </p:spPr>
      </p:pic>
      <p:pic>
        <p:nvPicPr>
          <p:cNvPr id="9" name="Content Placeholder 8">
            <a:extLst>
              <a:ext uri="{FF2B5EF4-FFF2-40B4-BE49-F238E27FC236}">
                <a16:creationId xmlns:a16="http://schemas.microsoft.com/office/drawing/2014/main" id="{401B0D17-5FBA-455D-824A-3D7E7CC4F86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5438" t="6578" r="7653" b="6019"/>
          <a:stretch/>
        </p:blipFill>
        <p:spPr>
          <a:xfrm>
            <a:off x="3781426" y="-7210"/>
            <a:ext cx="8187732" cy="6858000"/>
          </a:xfrm>
          <a:prstGeom prst="rect">
            <a:avLst/>
          </a:prstGeom>
        </p:spPr>
      </p:pic>
      <p:sp>
        <p:nvSpPr>
          <p:cNvPr id="2" name="Title 1">
            <a:extLst>
              <a:ext uri="{FF2B5EF4-FFF2-40B4-BE49-F238E27FC236}">
                <a16:creationId xmlns:a16="http://schemas.microsoft.com/office/drawing/2014/main" id="{4CC7C8FA-E890-41E0-BD50-0778FA1BE5AC}"/>
              </a:ext>
            </a:extLst>
          </p:cNvPr>
          <p:cNvSpPr>
            <a:spLocks noGrp="1"/>
          </p:cNvSpPr>
          <p:nvPr>
            <p:ph type="title"/>
          </p:nvPr>
        </p:nvSpPr>
        <p:spPr>
          <a:xfrm>
            <a:off x="804484" y="2546823"/>
            <a:ext cx="3948269" cy="2383844"/>
          </a:xfrm>
        </p:spPr>
        <p:txBody>
          <a:bodyPr vert="horz" lIns="91440" tIns="45720" rIns="91440" bIns="45720" rtlCol="0" anchor="t">
            <a:normAutofit/>
          </a:bodyPr>
          <a:lstStyle/>
          <a:p>
            <a:r>
              <a:rPr lang="en-US">
                <a:solidFill>
                  <a:srgbClr val="000000"/>
                </a:solidFill>
              </a:rPr>
              <a:t>Categorical Features Distribution</a:t>
            </a:r>
          </a:p>
        </p:txBody>
      </p:sp>
    </p:spTree>
    <p:extLst>
      <p:ext uri="{BB962C8B-B14F-4D97-AF65-F5344CB8AC3E}">
        <p14:creationId xmlns:p14="http://schemas.microsoft.com/office/powerpoint/2010/main" val="4199856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567960-1861-40F1-BF19-444E0025BADB}"/>
              </a:ext>
            </a:extLst>
          </p:cNvPr>
          <p:cNvSpPr>
            <a:spLocks noGrp="1"/>
          </p:cNvSpPr>
          <p:nvPr>
            <p:ph type="title"/>
          </p:nvPr>
        </p:nvSpPr>
        <p:spPr>
          <a:xfrm>
            <a:off x="1179226" y="826680"/>
            <a:ext cx="9833548" cy="1325563"/>
          </a:xfrm>
        </p:spPr>
        <p:txBody>
          <a:bodyPr>
            <a:normAutofit/>
          </a:bodyPr>
          <a:lstStyle/>
          <a:p>
            <a:pPr algn="ctr"/>
            <a:r>
              <a:rPr lang="en-US" sz="4000">
                <a:solidFill>
                  <a:srgbClr val="FFFFFF"/>
                </a:solidFill>
              </a:rPr>
              <a:t>Categorical Features</a:t>
            </a:r>
          </a:p>
        </p:txBody>
      </p:sp>
      <p:sp>
        <p:nvSpPr>
          <p:cNvPr id="3" name="Content Placeholder 2">
            <a:extLst>
              <a:ext uri="{FF2B5EF4-FFF2-40B4-BE49-F238E27FC236}">
                <a16:creationId xmlns:a16="http://schemas.microsoft.com/office/drawing/2014/main" id="{5B86D448-3971-407E-B4AB-3F82DB7DD763}"/>
              </a:ext>
            </a:extLst>
          </p:cNvPr>
          <p:cNvSpPr>
            <a:spLocks noGrp="1"/>
          </p:cNvSpPr>
          <p:nvPr>
            <p:ph idx="1"/>
          </p:nvPr>
        </p:nvSpPr>
        <p:spPr>
          <a:xfrm>
            <a:off x="1179226" y="3092970"/>
            <a:ext cx="9833548" cy="2693976"/>
          </a:xfrm>
        </p:spPr>
        <p:txBody>
          <a:bodyPr>
            <a:normAutofit/>
          </a:bodyPr>
          <a:lstStyle/>
          <a:p>
            <a:r>
              <a:rPr lang="en-US" sz="2000" dirty="0">
                <a:solidFill>
                  <a:srgbClr val="000000"/>
                </a:solidFill>
              </a:rPr>
              <a:t>Two categorical features, Active Segment and X1</a:t>
            </a:r>
          </a:p>
          <a:p>
            <a:r>
              <a:rPr lang="en-US" sz="2000" dirty="0">
                <a:solidFill>
                  <a:srgbClr val="000000"/>
                </a:solidFill>
              </a:rPr>
              <a:t>Not much information about how they are calculated or what each of the category signifies.</a:t>
            </a:r>
          </a:p>
          <a:p>
            <a:r>
              <a:rPr lang="en-US" sz="2000" dirty="0">
                <a:solidFill>
                  <a:srgbClr val="000000"/>
                </a:solidFill>
              </a:rPr>
              <a:t>But it can be inferred that some categories are more likely to be classified as Type 1 customer than other.</a:t>
            </a:r>
          </a:p>
          <a:p>
            <a:r>
              <a:rPr lang="en-US" sz="2000" dirty="0">
                <a:solidFill>
                  <a:srgbClr val="000000"/>
                </a:solidFill>
              </a:rPr>
              <a:t>Also, it was found that all the rows with missing values correspond to Type 0 customer.</a:t>
            </a:r>
          </a:p>
          <a:p>
            <a:r>
              <a:rPr lang="en-US" sz="2000" dirty="0">
                <a:solidFill>
                  <a:srgbClr val="000000"/>
                </a:solidFill>
              </a:rPr>
              <a:t>So, filled all the missing values in these features with a dummy variable.</a:t>
            </a:r>
          </a:p>
        </p:txBody>
      </p:sp>
    </p:spTree>
    <p:extLst>
      <p:ext uri="{BB962C8B-B14F-4D97-AF65-F5344CB8AC3E}">
        <p14:creationId xmlns:p14="http://schemas.microsoft.com/office/powerpoint/2010/main" val="1511657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3C85730-806B-4D37-894C-2C5A4E413083}"/>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Handle Missing Values</a:t>
            </a:r>
          </a:p>
        </p:txBody>
      </p:sp>
      <p:sp>
        <p:nvSpPr>
          <p:cNvPr id="3" name="Content Placeholder 2">
            <a:extLst>
              <a:ext uri="{FF2B5EF4-FFF2-40B4-BE49-F238E27FC236}">
                <a16:creationId xmlns:a16="http://schemas.microsoft.com/office/drawing/2014/main" id="{83326D53-92A1-40CA-8E1C-D6216F19C538}"/>
              </a:ext>
            </a:extLst>
          </p:cNvPr>
          <p:cNvSpPr>
            <a:spLocks noGrp="1"/>
          </p:cNvSpPr>
          <p:nvPr>
            <p:ph idx="1"/>
          </p:nvPr>
        </p:nvSpPr>
        <p:spPr>
          <a:xfrm>
            <a:off x="1179226" y="3092970"/>
            <a:ext cx="9833548" cy="2693976"/>
          </a:xfrm>
        </p:spPr>
        <p:txBody>
          <a:bodyPr>
            <a:normAutofit/>
          </a:bodyPr>
          <a:lstStyle/>
          <a:p>
            <a:r>
              <a:rPr lang="en-US" sz="2000" dirty="0">
                <a:solidFill>
                  <a:srgbClr val="000000"/>
                </a:solidFill>
              </a:rPr>
              <a:t>For normally distributed features like Product Search and Order scores, missing values are filled with values randomly sampled by their distribution.</a:t>
            </a:r>
          </a:p>
          <a:p>
            <a:r>
              <a:rPr lang="en-US" sz="2000" dirty="0">
                <a:solidFill>
                  <a:srgbClr val="000000"/>
                </a:solidFill>
              </a:rPr>
              <a:t>For Stay Score, it is highly correlated with CTR score. So, A KNN imputer is used to fill the missing values.</a:t>
            </a:r>
          </a:p>
          <a:p>
            <a:r>
              <a:rPr lang="en-US" sz="2000" dirty="0">
                <a:solidFill>
                  <a:srgbClr val="000000"/>
                </a:solidFill>
              </a:rPr>
              <a:t>For product variation score, multivariate imputation is used which fills in missing values by modelling current feature on remaining features.</a:t>
            </a:r>
          </a:p>
          <a:p>
            <a:r>
              <a:rPr lang="en-US" sz="2000" dirty="0">
                <a:solidFill>
                  <a:srgbClr val="000000"/>
                </a:solidFill>
              </a:rPr>
              <a:t>And finally, for imputing categorical features, I treated all missing values to be a separate category. </a:t>
            </a:r>
          </a:p>
        </p:txBody>
      </p:sp>
    </p:spTree>
    <p:extLst>
      <p:ext uri="{BB962C8B-B14F-4D97-AF65-F5344CB8AC3E}">
        <p14:creationId xmlns:p14="http://schemas.microsoft.com/office/powerpoint/2010/main" val="498509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C029DE3-0400-4CDE-B575-FA75D0150415}"/>
              </a:ext>
            </a:extLst>
          </p:cNvPr>
          <p:cNvSpPr>
            <a:spLocks noGrp="1"/>
          </p:cNvSpPr>
          <p:nvPr>
            <p:ph type="title"/>
          </p:nvPr>
        </p:nvSpPr>
        <p:spPr>
          <a:xfrm>
            <a:off x="1179226" y="826680"/>
            <a:ext cx="9833548" cy="1325563"/>
          </a:xfrm>
        </p:spPr>
        <p:txBody>
          <a:bodyPr>
            <a:normAutofit/>
          </a:bodyPr>
          <a:lstStyle/>
          <a:p>
            <a:pPr algn="ctr"/>
            <a:r>
              <a:rPr lang="en-US" sz="4000">
                <a:solidFill>
                  <a:srgbClr val="FFFFFF"/>
                </a:solidFill>
              </a:rPr>
              <a:t>Data cleaning and Encoding</a:t>
            </a:r>
          </a:p>
        </p:txBody>
      </p:sp>
      <p:sp>
        <p:nvSpPr>
          <p:cNvPr id="3" name="Content Placeholder 2">
            <a:extLst>
              <a:ext uri="{FF2B5EF4-FFF2-40B4-BE49-F238E27FC236}">
                <a16:creationId xmlns:a16="http://schemas.microsoft.com/office/drawing/2014/main" id="{86190C4F-8760-4D7E-80ED-A1FD6A133CF7}"/>
              </a:ext>
            </a:extLst>
          </p:cNvPr>
          <p:cNvSpPr>
            <a:spLocks noGrp="1"/>
          </p:cNvSpPr>
          <p:nvPr>
            <p:ph idx="1"/>
          </p:nvPr>
        </p:nvSpPr>
        <p:spPr>
          <a:xfrm>
            <a:off x="1179226" y="3092970"/>
            <a:ext cx="9833548" cy="2693976"/>
          </a:xfrm>
        </p:spPr>
        <p:txBody>
          <a:bodyPr>
            <a:normAutofit/>
          </a:bodyPr>
          <a:lstStyle/>
          <a:p>
            <a:r>
              <a:rPr lang="en-US" sz="2000" dirty="0">
                <a:solidFill>
                  <a:srgbClr val="000000"/>
                </a:solidFill>
              </a:rPr>
              <a:t>Visit score - Uniformly distributed but also noisy. So, categorically divided the data into 10 bins and labelled them from range 1 to 10.</a:t>
            </a:r>
          </a:p>
          <a:p>
            <a:r>
              <a:rPr lang="en-US" sz="2000" dirty="0">
                <a:solidFill>
                  <a:srgbClr val="000000"/>
                </a:solidFill>
              </a:rPr>
              <a:t>Categorical features – Affinity score and X1 score are also to be labelled.</a:t>
            </a:r>
          </a:p>
          <a:p>
            <a:r>
              <a:rPr lang="en-US" sz="2000" dirty="0">
                <a:solidFill>
                  <a:srgbClr val="000000"/>
                </a:solidFill>
              </a:rPr>
              <a:t>One hot encoding , Label encoding are available methods.</a:t>
            </a:r>
          </a:p>
          <a:p>
            <a:r>
              <a:rPr lang="en-US" sz="2000" dirty="0">
                <a:solidFill>
                  <a:srgbClr val="000000"/>
                </a:solidFill>
              </a:rPr>
              <a:t>By label encoding we are assigning some prior into the distribution. So, used one hot encoding.</a:t>
            </a:r>
          </a:p>
        </p:txBody>
      </p:sp>
    </p:spTree>
    <p:extLst>
      <p:ext uri="{BB962C8B-B14F-4D97-AF65-F5344CB8AC3E}">
        <p14:creationId xmlns:p14="http://schemas.microsoft.com/office/powerpoint/2010/main" val="4232307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42172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FAEA6E-77AF-495A-BC41-42EF51487039}"/>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100" kern="1200" dirty="0">
                <a:solidFill>
                  <a:srgbClr val="000000"/>
                </a:solidFill>
                <a:latin typeface="+mj-lt"/>
                <a:ea typeface="+mj-ea"/>
                <a:cs typeface="+mj-cs"/>
              </a:rPr>
              <a:t>ML Model Training</a:t>
            </a:r>
          </a:p>
        </p:txBody>
      </p:sp>
      <p:sp>
        <p:nvSpPr>
          <p:cNvPr id="14"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1159"/>
            <a:ext cx="546487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heckmark">
            <a:extLst>
              <a:ext uri="{FF2B5EF4-FFF2-40B4-BE49-F238E27FC236}">
                <a16:creationId xmlns:a16="http://schemas.microsoft.com/office/drawing/2014/main" id="{6FAE92E9-8168-47A0-A673-F91F9A9683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2231393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7C8FA-E890-41E0-BD50-0778FA1BE5AC}"/>
              </a:ext>
            </a:extLst>
          </p:cNvPr>
          <p:cNvSpPr>
            <a:spLocks noGrp="1"/>
          </p:cNvSpPr>
          <p:nvPr>
            <p:ph type="title"/>
          </p:nvPr>
        </p:nvSpPr>
        <p:spPr>
          <a:xfrm>
            <a:off x="603938" y="640081"/>
            <a:ext cx="2608655" cy="5257799"/>
          </a:xfrm>
        </p:spPr>
        <p:txBody>
          <a:bodyPr vert="horz" lIns="91440" tIns="45720" rIns="91440" bIns="45720" rtlCol="0" anchor="ctr">
            <a:normAutofit/>
          </a:bodyPr>
          <a:lstStyle/>
          <a:p>
            <a:r>
              <a:rPr lang="en-US" sz="2000" dirty="0">
                <a:solidFill>
                  <a:srgbClr val="2C2C2C"/>
                </a:solidFill>
              </a:rPr>
              <a:t>The available data is split into training and validation modules for an initial understanding of which models performed the best. Later parameters are </a:t>
            </a:r>
            <a:r>
              <a:rPr lang="en-US" sz="2000" dirty="0" err="1">
                <a:solidFill>
                  <a:srgbClr val="2C2C2C"/>
                </a:solidFill>
              </a:rPr>
              <a:t>hypertuned</a:t>
            </a:r>
            <a:r>
              <a:rPr lang="en-US" sz="2000" dirty="0">
                <a:solidFill>
                  <a:srgbClr val="2C2C2C"/>
                </a:solidFill>
              </a:rPr>
              <a:t> to fine tune the models. We can see that linear models are generally performing better from the above precision scores obtained from various models.</a:t>
            </a:r>
          </a:p>
        </p:txBody>
      </p:sp>
      <p:sp>
        <p:nvSpPr>
          <p:cNvPr id="51"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401B0D17-5FBA-455D-824A-3D7E7CC4F86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561" b="1"/>
          <a:stretch/>
        </p:blipFill>
        <p:spPr>
          <a:xfrm>
            <a:off x="4062964" y="942538"/>
            <a:ext cx="7163222" cy="4808332"/>
          </a:xfrm>
          <a:prstGeom prst="rect">
            <a:avLst/>
          </a:prstGeom>
          <a:effectLst/>
        </p:spPr>
      </p:pic>
    </p:spTree>
    <p:extLst>
      <p:ext uri="{BB962C8B-B14F-4D97-AF65-F5344CB8AC3E}">
        <p14:creationId xmlns:p14="http://schemas.microsoft.com/office/powerpoint/2010/main" val="1044774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7FE16-93F6-45D3-882B-C860BF2E6A1F}"/>
              </a:ext>
            </a:extLst>
          </p:cNvPr>
          <p:cNvSpPr>
            <a:spLocks noGrp="1"/>
          </p:cNvSpPr>
          <p:nvPr>
            <p:ph type="title"/>
          </p:nvPr>
        </p:nvSpPr>
        <p:spPr>
          <a:xfrm>
            <a:off x="429768" y="411480"/>
            <a:ext cx="11201400" cy="1106424"/>
          </a:xfrm>
        </p:spPr>
        <p:txBody>
          <a:bodyPr vert="horz" lIns="91440" tIns="45720" rIns="91440" bIns="45720" rtlCol="0" anchor="ctr">
            <a:normAutofit/>
          </a:bodyPr>
          <a:lstStyle/>
          <a:p>
            <a:r>
              <a:rPr lang="en-US" sz="3600" dirty="0"/>
              <a:t>Model Training</a:t>
            </a:r>
          </a:p>
        </p:txBody>
      </p:sp>
      <p:sp>
        <p:nvSpPr>
          <p:cNvPr id="25" name="Rectangle 24">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7F229B67-E609-4D74-9327-68EC2DFB3A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997"/>
          <a:stretch/>
        </p:blipFill>
        <p:spPr>
          <a:xfrm>
            <a:off x="429768" y="1721922"/>
            <a:ext cx="6704891" cy="4520559"/>
          </a:xfrm>
          <a:prstGeom prst="rect">
            <a:avLst/>
          </a:prstGeom>
        </p:spPr>
      </p:pic>
      <p:sp useBgFill="1">
        <p:nvSpPr>
          <p:cNvPr id="27" name="Rectangle 26">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B41BF0CF-52BD-45E6-BB2D-E712F0F98822}"/>
              </a:ext>
            </a:extLst>
          </p:cNvPr>
          <p:cNvSpPr>
            <a:spLocks noGrp="1"/>
          </p:cNvSpPr>
          <p:nvPr>
            <p:ph type="body" sz="half" idx="2"/>
          </p:nvPr>
        </p:nvSpPr>
        <p:spPr>
          <a:xfrm>
            <a:off x="7938752" y="2020824"/>
            <a:ext cx="3455097" cy="3959352"/>
          </a:xfrm>
        </p:spPr>
        <p:txBody>
          <a:bodyPr vert="horz" lIns="91440" tIns="45720" rIns="91440" bIns="45720" rtlCol="0" anchor="ctr">
            <a:normAutofit/>
          </a:bodyPr>
          <a:lstStyle/>
          <a:p>
            <a:pPr marL="285750" indent="-228600">
              <a:buFont typeface="Arial" panose="020B0604020202020204" pitchFamily="34" charset="0"/>
              <a:buChar char="•"/>
            </a:pPr>
            <a:r>
              <a:rPr lang="en-US" sz="1800" dirty="0"/>
              <a:t>The available data is split into training and validation modules and trained on various models.</a:t>
            </a:r>
          </a:p>
          <a:p>
            <a:pPr marL="285750" indent="-228600">
              <a:buFont typeface="Arial" panose="020B0604020202020204" pitchFamily="34" charset="0"/>
              <a:buChar char="•"/>
            </a:pPr>
            <a:r>
              <a:rPr lang="en-US" sz="1800" dirty="0"/>
              <a:t>Linear models are found to be performing better than ensemble methods.</a:t>
            </a:r>
          </a:p>
          <a:p>
            <a:pPr marL="285750" indent="-228600">
              <a:buFont typeface="Arial" panose="020B0604020202020204" pitchFamily="34" charset="0"/>
              <a:buChar char="•"/>
            </a:pPr>
            <a:r>
              <a:rPr lang="en-US" sz="1800" dirty="0"/>
              <a:t>Later parameters are </a:t>
            </a:r>
            <a:r>
              <a:rPr lang="en-US" sz="1800" dirty="0" err="1"/>
              <a:t>hypertuned</a:t>
            </a:r>
            <a:r>
              <a:rPr lang="en-US" sz="1800" dirty="0"/>
              <a:t> for each models to fine tune these models. </a:t>
            </a:r>
          </a:p>
        </p:txBody>
      </p:sp>
    </p:spTree>
    <p:extLst>
      <p:ext uri="{BB962C8B-B14F-4D97-AF65-F5344CB8AC3E}">
        <p14:creationId xmlns:p14="http://schemas.microsoft.com/office/powerpoint/2010/main" val="3520879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A28E2B3-41F8-4E50-95BF-32936FDCD464}"/>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Training and Hyperparameter Tuning</a:t>
            </a:r>
          </a:p>
        </p:txBody>
      </p:sp>
      <p:sp>
        <p:nvSpPr>
          <p:cNvPr id="3" name="Content Placeholder 2">
            <a:extLst>
              <a:ext uri="{FF2B5EF4-FFF2-40B4-BE49-F238E27FC236}">
                <a16:creationId xmlns:a16="http://schemas.microsoft.com/office/drawing/2014/main" id="{36728819-0B70-4715-BC92-9ED2B83BAB04}"/>
              </a:ext>
            </a:extLst>
          </p:cNvPr>
          <p:cNvSpPr>
            <a:spLocks noGrp="1"/>
          </p:cNvSpPr>
          <p:nvPr>
            <p:ph idx="1"/>
          </p:nvPr>
        </p:nvSpPr>
        <p:spPr>
          <a:xfrm>
            <a:off x="1179226" y="3092970"/>
            <a:ext cx="9833548" cy="2693976"/>
          </a:xfrm>
        </p:spPr>
        <p:txBody>
          <a:bodyPr>
            <a:normAutofit fontScale="70000" lnSpcReduction="20000"/>
          </a:bodyPr>
          <a:lstStyle/>
          <a:p>
            <a:r>
              <a:rPr lang="en-US" sz="2000" dirty="0">
                <a:solidFill>
                  <a:srgbClr val="000000"/>
                </a:solidFill>
              </a:rPr>
              <a:t>As can be seen from the results, Ridge and Linear Discriminant analyzer are performing better than other models.</a:t>
            </a:r>
          </a:p>
          <a:p>
            <a:r>
              <a:rPr lang="en-US" sz="2000" dirty="0">
                <a:solidFill>
                  <a:srgbClr val="000000"/>
                </a:solidFill>
              </a:rPr>
              <a:t>Ensemble methods - As our data is heavily imbalanced, they suffer from having less data to classify the minority customer category of 1.</a:t>
            </a:r>
          </a:p>
          <a:p>
            <a:pPr marL="0" indent="0">
              <a:buNone/>
            </a:pPr>
            <a:r>
              <a:rPr lang="en-US" sz="2000" dirty="0">
                <a:solidFill>
                  <a:srgbClr val="000000"/>
                </a:solidFill>
              </a:rPr>
              <a:t>      </a:t>
            </a:r>
            <a:r>
              <a:rPr lang="en-US" sz="2000" dirty="0">
                <a:solidFill>
                  <a:schemeClr val="accent1">
                    <a:lumMod val="75000"/>
                  </a:schemeClr>
                </a:solidFill>
              </a:rPr>
              <a:t>Best Random Forest Classifier  - </a:t>
            </a:r>
            <a:r>
              <a:rPr lang="en-US" sz="2000" dirty="0" err="1">
                <a:solidFill>
                  <a:schemeClr val="accent1">
                    <a:lumMod val="75000"/>
                  </a:schemeClr>
                </a:solidFill>
              </a:rPr>
              <a:t>n_estimators</a:t>
            </a:r>
            <a:r>
              <a:rPr lang="en-US" sz="2000" dirty="0">
                <a:solidFill>
                  <a:schemeClr val="accent1">
                    <a:lumMod val="75000"/>
                  </a:schemeClr>
                </a:solidFill>
              </a:rPr>
              <a:t> – 150, </a:t>
            </a:r>
            <a:r>
              <a:rPr lang="en-US" sz="2000" dirty="0" err="1">
                <a:solidFill>
                  <a:schemeClr val="accent1">
                    <a:lumMod val="75000"/>
                  </a:schemeClr>
                </a:solidFill>
              </a:rPr>
              <a:t>max_depth</a:t>
            </a:r>
            <a:r>
              <a:rPr lang="en-US" sz="2000" dirty="0">
                <a:solidFill>
                  <a:schemeClr val="accent1">
                    <a:lumMod val="75000"/>
                  </a:schemeClr>
                </a:solidFill>
              </a:rPr>
              <a:t> =2, </a:t>
            </a:r>
            <a:r>
              <a:rPr lang="en-US" sz="2000" dirty="0" err="1">
                <a:solidFill>
                  <a:schemeClr val="accent1">
                    <a:lumMod val="75000"/>
                  </a:schemeClr>
                </a:solidFill>
              </a:rPr>
              <a:t>max_column_split</a:t>
            </a:r>
            <a:r>
              <a:rPr lang="en-US" sz="2000" dirty="0">
                <a:solidFill>
                  <a:schemeClr val="accent1">
                    <a:lumMod val="75000"/>
                  </a:schemeClr>
                </a:solidFill>
              </a:rPr>
              <a:t>=0.6 - 95 accuracy</a:t>
            </a:r>
          </a:p>
          <a:p>
            <a:r>
              <a:rPr lang="en-US" sz="2000" dirty="0">
                <a:solidFill>
                  <a:srgbClr val="000000"/>
                </a:solidFill>
              </a:rPr>
              <a:t>SGD Classifier and SVM produced results that are heavily based on random state variable which is not a good sign.</a:t>
            </a:r>
          </a:p>
          <a:p>
            <a:r>
              <a:rPr lang="en-US" sz="2000" dirty="0">
                <a:solidFill>
                  <a:srgbClr val="000000"/>
                </a:solidFill>
              </a:rPr>
              <a:t>Finally zeroed upon Ridge Classifier and Linear Discriminant classifier</a:t>
            </a:r>
          </a:p>
          <a:p>
            <a:r>
              <a:rPr lang="en-US" sz="2000" dirty="0">
                <a:solidFill>
                  <a:srgbClr val="000000"/>
                </a:solidFill>
              </a:rPr>
              <a:t>Linear Discriminant </a:t>
            </a:r>
            <a:r>
              <a:rPr lang="en-US" sz="2000" dirty="0" err="1">
                <a:solidFill>
                  <a:srgbClr val="000000"/>
                </a:solidFill>
              </a:rPr>
              <a:t>Analyser</a:t>
            </a:r>
            <a:r>
              <a:rPr lang="en-US" sz="2000" dirty="0">
                <a:solidFill>
                  <a:srgbClr val="000000"/>
                </a:solidFill>
              </a:rPr>
              <a:t> doesn't have significant hyperparameters to tune. </a:t>
            </a:r>
          </a:p>
          <a:p>
            <a:pPr marL="0" indent="0">
              <a:buNone/>
            </a:pPr>
            <a:r>
              <a:rPr lang="en-US" sz="2000" dirty="0">
                <a:solidFill>
                  <a:schemeClr val="accent1">
                    <a:lumMod val="75000"/>
                  </a:schemeClr>
                </a:solidFill>
              </a:rPr>
              <a:t>        Linear Discriminant </a:t>
            </a:r>
            <a:r>
              <a:rPr lang="en-US" sz="2000" dirty="0" err="1">
                <a:solidFill>
                  <a:schemeClr val="accent1">
                    <a:lumMod val="75000"/>
                  </a:schemeClr>
                </a:solidFill>
              </a:rPr>
              <a:t>Analyser</a:t>
            </a:r>
            <a:r>
              <a:rPr lang="en-US" sz="2000" dirty="0">
                <a:solidFill>
                  <a:schemeClr val="accent1">
                    <a:lumMod val="75000"/>
                  </a:schemeClr>
                </a:solidFill>
              </a:rPr>
              <a:t> – 97 accuracy</a:t>
            </a:r>
          </a:p>
          <a:p>
            <a:r>
              <a:rPr lang="en-US" sz="2000" dirty="0">
                <a:solidFill>
                  <a:srgbClr val="000000"/>
                </a:solidFill>
              </a:rPr>
              <a:t>With Ridge Classifier, after careful parameter tuning, observed best results with the following combination.</a:t>
            </a:r>
          </a:p>
          <a:p>
            <a:pPr marL="0" indent="0">
              <a:buNone/>
            </a:pPr>
            <a:r>
              <a:rPr lang="en-US" sz="2000" dirty="0">
                <a:solidFill>
                  <a:srgbClr val="FF0000"/>
                </a:solidFill>
              </a:rPr>
              <a:t>        Ridge Classifier + Normalize data + "saga" solver + alpha =2.5 – Achieved 98.65 accuracy on test dataset</a:t>
            </a:r>
          </a:p>
          <a:p>
            <a:endParaRPr lang="en-US" sz="2000" dirty="0">
              <a:solidFill>
                <a:srgbClr val="000000"/>
              </a:solidFill>
            </a:endParaRPr>
          </a:p>
        </p:txBody>
      </p:sp>
    </p:spTree>
    <p:extLst>
      <p:ext uri="{BB962C8B-B14F-4D97-AF65-F5344CB8AC3E}">
        <p14:creationId xmlns:p14="http://schemas.microsoft.com/office/powerpoint/2010/main" val="2886692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A081083-B427-4A6A-9A2A-CFE6A0869120}"/>
              </a:ext>
            </a:extLst>
          </p:cNvPr>
          <p:cNvSpPr>
            <a:spLocks noGrp="1"/>
          </p:cNvSpPr>
          <p:nvPr>
            <p:ph type="title"/>
          </p:nvPr>
        </p:nvSpPr>
        <p:spPr>
          <a:xfrm>
            <a:off x="640079" y="2053641"/>
            <a:ext cx="3669161" cy="2760098"/>
          </a:xfrm>
        </p:spPr>
        <p:txBody>
          <a:bodyPr>
            <a:normAutofit/>
          </a:bodyPr>
          <a:lstStyle/>
          <a:p>
            <a:r>
              <a:rPr lang="en-US" dirty="0">
                <a:solidFill>
                  <a:srgbClr val="FFFFFF"/>
                </a:solidFill>
              </a:rPr>
              <a:t>Pros &amp; Cons</a:t>
            </a:r>
          </a:p>
        </p:txBody>
      </p:sp>
      <p:sp>
        <p:nvSpPr>
          <p:cNvPr id="3" name="Content Placeholder 2">
            <a:extLst>
              <a:ext uri="{FF2B5EF4-FFF2-40B4-BE49-F238E27FC236}">
                <a16:creationId xmlns:a16="http://schemas.microsoft.com/office/drawing/2014/main" id="{0491FB09-2C50-42C5-B8A7-8DFB78D2C61D}"/>
              </a:ext>
            </a:extLst>
          </p:cNvPr>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Pros</a:t>
            </a:r>
          </a:p>
          <a:p>
            <a:r>
              <a:rPr lang="en-US" sz="2400" dirty="0">
                <a:solidFill>
                  <a:srgbClr val="000000"/>
                </a:solidFill>
              </a:rPr>
              <a:t>Customer Experience will be enhanced because customer gets to see what he wanted instead of random irrelevant suggestions.</a:t>
            </a:r>
          </a:p>
          <a:p>
            <a:r>
              <a:rPr lang="en-US" sz="2400" dirty="0">
                <a:solidFill>
                  <a:srgbClr val="000000"/>
                </a:solidFill>
              </a:rPr>
              <a:t>Business will benefit because we can show our product to those customers who are more likely to buy.</a:t>
            </a:r>
          </a:p>
          <a:p>
            <a:pPr marL="0" indent="0">
              <a:buNone/>
            </a:pPr>
            <a:r>
              <a:rPr lang="en-US" sz="2400" dirty="0">
                <a:solidFill>
                  <a:srgbClr val="000000"/>
                </a:solidFill>
              </a:rPr>
              <a:t>Cons</a:t>
            </a:r>
          </a:p>
          <a:p>
            <a:r>
              <a:rPr lang="en-US" sz="2400" dirty="0">
                <a:solidFill>
                  <a:srgbClr val="000000"/>
                </a:solidFill>
              </a:rPr>
              <a:t>Our product may not reach all types of customers. </a:t>
            </a:r>
          </a:p>
          <a:p>
            <a:r>
              <a:rPr lang="en-US" sz="2400" dirty="0">
                <a:solidFill>
                  <a:srgbClr val="000000"/>
                </a:solidFill>
              </a:rPr>
              <a:t>For a product that was just launched, this might not be the ideal approach. </a:t>
            </a:r>
          </a:p>
          <a:p>
            <a:endParaRPr lang="en-US" sz="2400" dirty="0">
              <a:solidFill>
                <a:srgbClr val="000000"/>
              </a:solidFill>
            </a:endParaRPr>
          </a:p>
        </p:txBody>
      </p:sp>
    </p:spTree>
    <p:extLst>
      <p:ext uri="{BB962C8B-B14F-4D97-AF65-F5344CB8AC3E}">
        <p14:creationId xmlns:p14="http://schemas.microsoft.com/office/powerpoint/2010/main" val="3356454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335422D-A297-4033-8D14-9C827C2D8D06}"/>
              </a:ext>
            </a:extLst>
          </p:cNvPr>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en-US" sz="6000" kern="1200">
                <a:solidFill>
                  <a:srgbClr val="FFFFFF"/>
                </a:solidFill>
                <a:latin typeface="+mj-lt"/>
                <a:ea typeface="+mj-ea"/>
                <a:cs typeface="+mj-cs"/>
              </a:rPr>
              <a:t>Thanks</a:t>
            </a:r>
          </a:p>
        </p:txBody>
      </p:sp>
    </p:spTree>
    <p:extLst>
      <p:ext uri="{BB962C8B-B14F-4D97-AF65-F5344CB8AC3E}">
        <p14:creationId xmlns:p14="http://schemas.microsoft.com/office/powerpoint/2010/main" val="4274369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1138</Words>
  <Application>Microsoft Office PowerPoint</Application>
  <PresentationFormat>Widescreen</PresentationFormat>
  <Paragraphs>89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Amazon ML Hiring Challenge</vt:lpstr>
      <vt:lpstr>Problem Statement</vt:lpstr>
      <vt:lpstr>Basic Data Analysis</vt:lpstr>
      <vt:lpstr>Customer Category</vt:lpstr>
      <vt:lpstr>Missing values Distribution of missing values in the given dataset.</vt:lpstr>
      <vt:lpstr>Basic Data Analysis</vt:lpstr>
      <vt:lpstr>Feature Analysis and Cleaning</vt:lpstr>
      <vt:lpstr>Visit Score</vt:lpstr>
      <vt:lpstr>Product Search Score</vt:lpstr>
      <vt:lpstr>CTR &amp; Stay Scores</vt:lpstr>
      <vt:lpstr>CTR &amp; Stay Scores</vt:lpstr>
      <vt:lpstr>Other Features</vt:lpstr>
      <vt:lpstr>Distribution Plots for remaining features</vt:lpstr>
      <vt:lpstr>Feature Inference</vt:lpstr>
      <vt:lpstr>Categorical Features Distribution</vt:lpstr>
      <vt:lpstr>Categorical Features</vt:lpstr>
      <vt:lpstr>Handle Missing Values</vt:lpstr>
      <vt:lpstr>Data cleaning and Encoding</vt:lpstr>
      <vt:lpstr>ML Model Training</vt:lpstr>
      <vt:lpstr>The available data is split into training and validation modules for an initial understanding of which models performed the best. Later parameters are hypertuned to fine tune the models. We can see that linear models are generally performing better from the above precision scores obtained from various models.</vt:lpstr>
      <vt:lpstr>Model Training</vt:lpstr>
      <vt:lpstr>Training and Hyperparameter Tuning</vt:lpstr>
      <vt:lpstr>Pros &amp; Cons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ML Hiring Challenge</dc:title>
  <dc:creator>Atchuth Naveen Chilaparasetti (achilapa)</dc:creator>
  <cp:lastModifiedBy>Atchuth Naveen Chilaparasetti (achilapa)</cp:lastModifiedBy>
  <cp:revision>3</cp:revision>
  <dcterms:created xsi:type="dcterms:W3CDTF">2020-12-06T10:47:35Z</dcterms:created>
  <dcterms:modified xsi:type="dcterms:W3CDTF">2020-12-06T11:05:28Z</dcterms:modified>
</cp:coreProperties>
</file>